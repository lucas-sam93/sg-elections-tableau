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embeddedFontLst>
    <p:embeddedFont>
      <p:font typeface="Lato" panose="020F0502020204030203" pitchFamily="34" charset="0"/>
      <p:regular r:id="rId15"/>
      <p:bold r:id="rId16"/>
      <p:italic r:id="rId17"/>
      <p:boldItalic r:id="rId18"/>
    </p:embeddedFont>
    <p:embeddedFont>
      <p:font typeface="Newsreader" panose="020B0604020202020204" charset="0"/>
      <p:regular r:id="rId19"/>
      <p:bold r:id="rId20"/>
      <p:italic r:id="rId21"/>
      <p:boldItalic r:id="rId22"/>
    </p:embeddedFont>
    <p:embeddedFont>
      <p:font typeface="Newsreader Medium" panose="020B0604020202020204" charset="0"/>
      <p:regular r:id="rId23"/>
      <p:bold r:id="rId24"/>
      <p:italic r:id="rId25"/>
      <p:boldItalic r:id="rId26"/>
    </p:embeddedFont>
    <p:embeddedFont>
      <p:font typeface="Newsreader SemiBold"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jBcBBIxUFPtU3FrHrL62tAX5w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259" autoAdjust="0"/>
  </p:normalViewPr>
  <p:slideViewPr>
    <p:cSldViewPr snapToGrid="0">
      <p:cViewPr varScale="1">
        <p:scale>
          <a:sx n="186" d="100"/>
          <a:sy n="186" d="100"/>
        </p:scale>
        <p:origin x="1074"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Okay so — seventy years of election data, twelve slides, fifteen minutes.</a:t>
            </a:r>
            <a:endParaRPr/>
          </a:p>
          <a:p>
            <a:pPr marL="0" lvl="0" indent="0" algn="l" rtl="0">
              <a:lnSpc>
                <a:spcPct val="115000"/>
              </a:lnSpc>
              <a:spcBef>
                <a:spcPts val="1200"/>
              </a:spcBef>
              <a:spcAft>
                <a:spcPts val="0"/>
              </a:spcAft>
              <a:buClr>
                <a:schemeClr val="dk1"/>
              </a:buClr>
              <a:buSzPts val="1100"/>
              <a:buFont typeface="Arial"/>
              <a:buNone/>
            </a:pPr>
            <a:r>
              <a:rPr lang="en-US"/>
              <a:t>I promise it's more interesting than it sounds. Let's go.</a:t>
            </a:r>
            <a:endParaRPr/>
          </a:p>
          <a:p>
            <a:pPr marL="0" lvl="0" indent="0" algn="l" rtl="0">
              <a:spcBef>
                <a:spcPts val="120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I want to start with something simple. Two lines on a chart.</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One line tracks how many votes PAP gets. The other tracks how many seats they win.</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Now — if I told you a party got 65.8% of the votes, how many seats would you expect them to win? Maybe 65%, 68%, somewhere around there, right?</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PAP won 90.6% of seats. You can see both numbers annotated directly on the chart — 65.6% of votes, 90.6% of seats.</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That is not a rounding error. That is a 25 percentage point gap between what Singapore voted for and what ended up in Parliament.</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b="1" dirty="0">
                <a:latin typeface="Arial"/>
                <a:ea typeface="Arial"/>
                <a:cs typeface="Arial"/>
                <a:sym typeface="Arial"/>
              </a:rPr>
              <a:t>Show of hands — how many of you actually knew this gap was this big?</a:t>
            </a:r>
            <a:endParaRPr sz="1100" b="1"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i="1" dirty="0">
                <a:latin typeface="Arial"/>
                <a:ea typeface="Arial"/>
                <a:cs typeface="Arial"/>
                <a:sym typeface="Arial"/>
              </a:rPr>
              <a:t>[Pause. Acknowledge.]</a:t>
            </a:r>
            <a:endParaRPr sz="1100" i="1"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Yeah. Most people don't. And that's kind of the whole point of this analysis.</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Now before you say — "</a:t>
            </a:r>
            <a:r>
              <a:rPr lang="en-US" sz="1100" dirty="0" err="1">
                <a:latin typeface="Arial"/>
                <a:ea typeface="Arial"/>
                <a:cs typeface="Arial"/>
                <a:sym typeface="Arial"/>
              </a:rPr>
              <a:t>wah</a:t>
            </a:r>
            <a:r>
              <a:rPr lang="en-US" sz="1100" dirty="0">
                <a:latin typeface="Arial"/>
                <a:ea typeface="Arial"/>
                <a:cs typeface="Arial"/>
                <a:sym typeface="Arial"/>
              </a:rPr>
              <a:t>, must be the opposition too weak </a:t>
            </a:r>
            <a:r>
              <a:rPr lang="en-US" sz="1100" dirty="0" err="1">
                <a:latin typeface="Arial"/>
                <a:ea typeface="Arial"/>
                <a:cs typeface="Arial"/>
                <a:sym typeface="Arial"/>
              </a:rPr>
              <a:t>lah</a:t>
            </a:r>
            <a:r>
              <a:rPr lang="en-US" sz="1100" dirty="0">
                <a:latin typeface="Arial"/>
                <a:ea typeface="Arial"/>
                <a:cs typeface="Arial"/>
                <a:sym typeface="Arial"/>
              </a:rPr>
              <a:t>" — let me show you whether that's actually true. Because the data has a very different answer.</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1200"/>
              </a:spcBef>
              <a:spcAft>
                <a:spcPts val="0"/>
              </a:spcAft>
              <a:buNone/>
            </a:pPr>
            <a:endParaRPr dirty="0"/>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 name="Google Shape;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Look at the red line. PAP's national vote share. 75% in 2001 — their peak. Down to 60% in 2011 — their lowest in modern history. That was the year they lost Aljunied and called it a "watershed election." Which, to be fair, it was.</a:t>
            </a:r>
            <a:endParaRPr/>
          </a:p>
          <a:p>
            <a:pPr marL="0" lvl="0" indent="0" algn="l" rtl="0">
              <a:lnSpc>
                <a:spcPct val="115000"/>
              </a:lnSpc>
              <a:spcBef>
                <a:spcPts val="1200"/>
              </a:spcBef>
              <a:spcAft>
                <a:spcPts val="0"/>
              </a:spcAft>
              <a:buClr>
                <a:schemeClr val="dk1"/>
              </a:buClr>
              <a:buSzPts val="1100"/>
              <a:buFont typeface="Arial"/>
              <a:buNone/>
            </a:pPr>
            <a:r>
              <a:rPr lang="en-US"/>
              <a:t>Now look at the blue line at the bottom. That's WP. Starting from near zero, climbing steadily, reaching 14.9% nationally in 2025.</a:t>
            </a:r>
            <a:endParaRPr/>
          </a:p>
          <a:p>
            <a:pPr marL="0" lvl="0" indent="0" algn="l" rtl="0">
              <a:lnSpc>
                <a:spcPct val="115000"/>
              </a:lnSpc>
              <a:spcBef>
                <a:spcPts val="1200"/>
              </a:spcBef>
              <a:spcAft>
                <a:spcPts val="0"/>
              </a:spcAft>
              <a:buClr>
                <a:schemeClr val="dk1"/>
              </a:buClr>
              <a:buSzPts val="1100"/>
              <a:buFont typeface="Arial"/>
              <a:buNone/>
            </a:pPr>
            <a:r>
              <a:rPr lang="en-US"/>
              <a:t>14.9% sounds modest, I know. But here's the context — WP only contested 8 seats out of 97. Their national share is diluted by all the seats they didn't even show up for.</a:t>
            </a:r>
            <a:endParaRPr/>
          </a:p>
          <a:p>
            <a:pPr marL="0" lvl="0" indent="0" algn="l" rtl="0">
              <a:lnSpc>
                <a:spcPct val="115000"/>
              </a:lnSpc>
              <a:spcBef>
                <a:spcPts val="1200"/>
              </a:spcBef>
              <a:spcAft>
                <a:spcPts val="0"/>
              </a:spcAft>
              <a:buClr>
                <a:schemeClr val="dk1"/>
              </a:buClr>
              <a:buSzPts val="1100"/>
              <a:buFont typeface="Arial"/>
              <a:buNone/>
            </a:pPr>
            <a:r>
              <a:rPr lang="en-US"/>
              <a:t>In the seats they actually fought? They averaged 50.5%. We'll come back to that number. It's the most important number in this entire deck.</a:t>
            </a:r>
            <a:endParaRPr/>
          </a:p>
          <a:p>
            <a:pPr marL="0" lvl="0" indent="0" algn="l" rtl="0">
              <a:lnSpc>
                <a:spcPct val="115000"/>
              </a:lnSpc>
              <a:spcBef>
                <a:spcPts val="1200"/>
              </a:spcBef>
              <a:spcAft>
                <a:spcPts val="0"/>
              </a:spcAft>
              <a:buClr>
                <a:schemeClr val="dk1"/>
              </a:buClr>
              <a:buSzPts val="1100"/>
              <a:buFont typeface="Arial"/>
              <a:buNone/>
            </a:pPr>
            <a:r>
              <a:rPr lang="en-US"/>
              <a:t>The key point here is simple. Forty years of consistent upward movement. This is not Singaporeans kpkb-ing and then voting PAP anyway. This is a real, structural shift.</a:t>
            </a:r>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spcBef>
                <a:spcPts val="1200"/>
              </a:spcBef>
              <a:spcAft>
                <a:spcPts val="0"/>
              </a:spcAft>
              <a:buNone/>
            </a:pPr>
            <a:endParaRPr/>
          </a:p>
        </p:txBody>
      </p:sp>
      <p:sp>
        <p:nvSpPr>
          <p:cNvPr id="35" name="Google Shape;3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100" dirty="0"/>
              <a:t>1972 — WP contested 27 seats. 2025 — they contested 8.</a:t>
            </a:r>
          </a:p>
          <a:p>
            <a:r>
              <a:rPr lang="en-US" sz="1100" b="1" dirty="0"/>
              <a:t>Quick question. Does this look like a party growing or a party giving up?</a:t>
            </a:r>
            <a:endParaRPr lang="en-US" sz="1100" dirty="0"/>
          </a:p>
          <a:p>
            <a:r>
              <a:rPr lang="en-US" sz="1100" i="1" dirty="0"/>
              <a:t>[Take one response.]</a:t>
            </a:r>
            <a:endParaRPr lang="en-US" sz="1100" dirty="0"/>
          </a:p>
          <a:p>
            <a:r>
              <a:rPr lang="en-US" sz="1100" dirty="0"/>
              <a:t>If you're looking at the left chart only — looks like giving up, right? But look at the right chart. Their average vote share in those contested seats has been climbing for decades and just crossed the 50% majority threshold.</a:t>
            </a:r>
          </a:p>
          <a:p>
            <a:r>
              <a:rPr lang="en-US" sz="1100" dirty="0"/>
              <a:t>Fewer fights. Better results. The question is — if they're getting 50.5% in contested seats, why aren't they winning more? Next slide.</a:t>
            </a:r>
          </a:p>
          <a:p>
            <a:pPr marL="0" lvl="0" indent="0" algn="l" rtl="0">
              <a:spcBef>
                <a:spcPts val="1200"/>
              </a:spcBef>
              <a:spcAft>
                <a:spcPts val="0"/>
              </a:spcAft>
              <a:buNone/>
            </a:pPr>
            <a:endParaRPr dirty="0"/>
          </a:p>
        </p:txBody>
      </p:sp>
      <p:sp>
        <p:nvSpPr>
          <p:cNvPr id="49" name="Google Shape;4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This is the finding that genuinely surprised me when I ran the numbers.</a:t>
            </a:r>
          </a:p>
          <a:p>
            <a:r>
              <a:rPr lang="en-US" dirty="0"/>
              <a:t>The common assumption — the GRC system is designed to make it harder for opposition to win votes. So WP's problem is getting enough voter support in GRCs.</a:t>
            </a:r>
          </a:p>
          <a:p>
            <a:r>
              <a:rPr lang="en-US" dirty="0"/>
              <a:t>Let's test that assumption.</a:t>
            </a:r>
          </a:p>
          <a:p>
            <a:r>
              <a:rPr lang="en-US" dirty="0"/>
              <a:t>This chart shows PAP versus WP head-to-head — only in constituencies where WP actually contested. Same seats, both parties, same elections.</a:t>
            </a:r>
          </a:p>
          <a:p>
            <a:r>
              <a:rPr lang="en-US" dirty="0"/>
              <a:t>2025 endpoints: PAP averaging 65.8%. WP averaging 50.5%.</a:t>
            </a:r>
          </a:p>
          <a:p>
            <a:r>
              <a:rPr lang="en-US" dirty="0"/>
              <a:t>WP is getting half the vote in every serious fight they enter. Half. In a straight two-party contest, half means you can win.</a:t>
            </a:r>
          </a:p>
          <a:p>
            <a:r>
              <a:rPr lang="en-US" dirty="0"/>
              <a:t>So the votes are not the problem. Then what is?</a:t>
            </a:r>
          </a:p>
          <a:p>
            <a:r>
              <a:rPr lang="en-US" dirty="0"/>
              <a:t>Card two. GRCs require between 3 and 6 credible candidates per team. Not one star candidate — the whole slate has to be credible. Because voters aren't just choosing a person, they're choosing a team to run their town council. And finding 3 to 6 credible, committed people per GRC is genuinely hard.</a:t>
            </a:r>
          </a:p>
          <a:p>
            <a:r>
              <a:rPr lang="en-US" dirty="0"/>
              <a:t>It's a pipeline problem. Anyone who's done hiring at scale will understand this immediately — you can have all the job openings in the world, but if you don't have the talent ready, the roles don't get filled.</a:t>
            </a:r>
          </a:p>
          <a:p>
            <a:r>
              <a:rPr lang="en-US" dirty="0"/>
              <a:t>That's WP's real constraint. Not votes. </a:t>
            </a:r>
            <a:r>
              <a:rPr lang="en-US" dirty="0" err="1"/>
              <a:t>Organisational</a:t>
            </a:r>
            <a:r>
              <a:rPr lang="en-US" dirty="0"/>
              <a:t> capacity.</a:t>
            </a:r>
          </a:p>
          <a:p>
            <a:pPr marL="0" lvl="0" indent="0" algn="l" rtl="0">
              <a:spcBef>
                <a:spcPts val="1200"/>
              </a:spcBef>
              <a:spcAft>
                <a:spcPts val="0"/>
              </a:spcAft>
              <a:buNone/>
            </a:pPr>
            <a:endParaRPr dirty="0"/>
          </a:p>
        </p:txBody>
      </p:sp>
      <p:sp>
        <p:nvSpPr>
          <p:cNvPr id="59" name="Google Shape;5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100" dirty="0"/>
              <a:t>I'm going to give you 20 seconds to just look at this. No narration.</a:t>
            </a:r>
          </a:p>
          <a:p>
            <a:r>
              <a:rPr lang="en-US" sz="1100" i="1" dirty="0"/>
              <a:t>[Pause 20 seconds.]</a:t>
            </a:r>
            <a:endParaRPr lang="en-US" sz="1100" dirty="0"/>
          </a:p>
          <a:p>
            <a:r>
              <a:rPr lang="en-US" sz="1100" dirty="0"/>
              <a:t>Okay. What did you notice?</a:t>
            </a:r>
          </a:p>
          <a:p>
            <a:r>
              <a:rPr lang="en-US" sz="1100" dirty="0"/>
              <a:t>Most of Singapore is deep red. Some of these constituencies have been red for every single election in this dataset without a single break. Tanjong Pagar. Ang Mo Kio. These are PAP fortresses — not because of one good MP, but because of decades of structural dominance.</a:t>
            </a:r>
          </a:p>
          <a:p>
            <a:r>
              <a:rPr lang="en-US" sz="1100" dirty="0"/>
              <a:t>Now look at the bottom of the heatmap. Hougang. Aljunied. </a:t>
            </a:r>
            <a:r>
              <a:rPr lang="en-US" sz="1100" dirty="0" err="1"/>
              <a:t>Potong</a:t>
            </a:r>
            <a:r>
              <a:rPr lang="en-US" sz="1100" dirty="0"/>
              <a:t> Pasir. The blue appears — but only there. Same small cluster. Same area. Forty years.</a:t>
            </a:r>
          </a:p>
          <a:p>
            <a:r>
              <a:rPr lang="en-US" sz="1100" dirty="0"/>
              <a:t>This tells you something important. The competitive geography is not spreading. Opposition strength is concentrated and it has stayed concentrated. Point out </a:t>
            </a:r>
            <a:r>
              <a:rPr lang="en-US" sz="1100" dirty="0" err="1"/>
              <a:t>Potong</a:t>
            </a:r>
            <a:r>
              <a:rPr lang="en-US" sz="1100" dirty="0"/>
              <a:t> Pasir</a:t>
            </a:r>
          </a:p>
          <a:p>
            <a:r>
              <a:rPr lang="en-US" sz="1100" dirty="0"/>
              <a:t>Which means the next strategic question is not "how do we win more seats" — it's "how do we hold and deepen what we already have." The next two slides show you exactly why that question matters so much.</a:t>
            </a:r>
          </a:p>
          <a:p>
            <a:pPr marL="0" lvl="0" indent="0" algn="l" rtl="0">
              <a:spcBef>
                <a:spcPts val="1200"/>
              </a:spcBef>
              <a:spcAft>
                <a:spcPts val="0"/>
              </a:spcAft>
              <a:buNone/>
            </a:pPr>
            <a:endParaRPr dirty="0"/>
          </a:p>
        </p:txBody>
      </p:sp>
      <p:sp>
        <p:nvSpPr>
          <p:cNvPr id="79" name="Google Shape;7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Chiam See Tong. Six elections. Twenty-seven years. </a:t>
            </a:r>
            <a:r>
              <a:rPr lang="en-US" dirty="0" err="1"/>
              <a:t>Potong</a:t>
            </a:r>
            <a:r>
              <a:rPr lang="en-US" dirty="0"/>
              <a:t> Pasir.</a:t>
            </a:r>
          </a:p>
          <a:p>
            <a:r>
              <a:rPr lang="en-US" dirty="0"/>
              <a:t>Look at the chart. First annotation — "Chiam wins 1984." That's the moment opposition support in this constituency went from contested to consistent. The blue line climbs through the 80s and 90s, peaking near 70%. In a political system where most opposition candidates lose their deposits, Chiam was winning by double digits. Residents queued to see him. He showed up every single week.</a:t>
            </a:r>
          </a:p>
          <a:p>
            <a:r>
              <a:rPr lang="en-US" dirty="0"/>
              <a:t>Then look at the second annotation — "Chiam leaves. PAP wins by 114 votes." One hundred and fourteen votes. That is how narrow the margin was when he stepped down and his wife Lina contested in his place. PAP scraped through by the skin of their teeth.</a:t>
            </a:r>
          </a:p>
          <a:p>
            <a:r>
              <a:rPr lang="en-US" dirty="0"/>
              <a:t>And then the third annotation — "PAP consolidates." That's the story of every election after. The blue line never recovers. By 2025, PAP is at 69% in </a:t>
            </a:r>
            <a:r>
              <a:rPr lang="en-US" dirty="0" err="1"/>
              <a:t>Potong</a:t>
            </a:r>
            <a:r>
              <a:rPr lang="en-US" dirty="0"/>
              <a:t> Pasir. Twenty-seven years of work. Gone in one term.</a:t>
            </a:r>
          </a:p>
          <a:p>
            <a:r>
              <a:rPr lang="en-US" dirty="0"/>
              <a:t>What did Chiam actually build over those twenty-seven years? He built loyalty to himself. But he changed parties three times — SDP, SPP, SDA. Every move fragmented the </a:t>
            </a:r>
            <a:r>
              <a:rPr lang="en-US" dirty="0" err="1"/>
              <a:t>organisational</a:t>
            </a:r>
            <a:r>
              <a:rPr lang="en-US" dirty="0"/>
              <a:t> base. When he left, only his personal relationship with residents remained. And personal relationships cannot be handed over.</a:t>
            </a:r>
          </a:p>
          <a:p>
            <a:r>
              <a:rPr lang="en-US" dirty="0"/>
              <a:t>Personality without institution. That is the cautionary tale.</a:t>
            </a:r>
          </a:p>
          <a:p>
            <a:r>
              <a:rPr lang="en-US" dirty="0"/>
              <a:t>Now let's see what happens when you build it differently.</a:t>
            </a:r>
          </a:p>
          <a:p>
            <a:pPr marL="0" lvl="0" indent="0" algn="l" rtl="0">
              <a:spcBef>
                <a:spcPts val="1200"/>
              </a:spcBef>
              <a:spcAft>
                <a:spcPts val="0"/>
              </a:spcAft>
              <a:buNone/>
            </a:pPr>
            <a:endParaRPr dirty="0"/>
          </a:p>
        </p:txBody>
      </p:sp>
      <p:sp>
        <p:nvSpPr>
          <p:cNvPr id="87" name="Google Shape;8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Same era. Same Singapore. Completely different outcome.</a:t>
            </a:r>
          </a:p>
          <a:p>
            <a:r>
              <a:rPr lang="en-US" dirty="0"/>
              <a:t>Look at the Hougang chart first. Four annotations tell the whole story. "WP enters Hougang" — they start contesting in 1988, lose that first attempt. "WP takes the seat" — 1991, Low Thia Khiang wins. Then "PAP's lowest — 35%" — the point where PAP's support in Hougang bottoms out, showing how deeply WP had embedded itself in the community. And finally — "WP Held for 34 years." Low moved to Aljunied in 2011, a new candidate took over, and the seat never went back.</a:t>
            </a:r>
          </a:p>
          <a:p>
            <a:r>
              <a:rPr lang="en-US" dirty="0"/>
              <a:t>That is not personal loyalty to one man. That is what an institution looks like.</a:t>
            </a:r>
          </a:p>
          <a:p>
            <a:r>
              <a:rPr lang="en-US" dirty="0"/>
              <a:t>Now the Aljunied chart. Two annotations. "WP wins Aljunied for the first time" — 2011, after contesting and losing in 2006. Five years of showing up between those two elections, same team, same doors, same community events. They came back and won.</a:t>
            </a:r>
          </a:p>
          <a:p>
            <a:r>
              <a:rPr lang="en-US" dirty="0"/>
              <a:t>Then — "Closest PAP came to reclaiming it." That's 2015. Here's the context behind that annotation. People's Association blocked WP from community spaces. Town council lawsuit. Months of national press. Every institutional lever that could be pulled — was pulled. And PAP nearly got the seat back.</a:t>
            </a:r>
          </a:p>
          <a:p>
            <a:r>
              <a:rPr lang="en-US" dirty="0"/>
              <a:t>But look at what happens after that annotation. The WP line climbs. 2020, it jumps sharply. 2025, it holds.</a:t>
            </a:r>
          </a:p>
          <a:p>
            <a:r>
              <a:rPr lang="en-US" dirty="0"/>
              <a:t>You don't recover like that under that kind of pressure unless the community has decided to trust you as a party — not just as a collection of individuals.</a:t>
            </a:r>
          </a:p>
          <a:p>
            <a:pPr marL="0" lvl="0" indent="0" algn="l" rtl="0">
              <a:spcBef>
                <a:spcPts val="1200"/>
              </a:spcBef>
              <a:spcAft>
                <a:spcPts val="0"/>
              </a:spcAft>
              <a:buNone/>
            </a:pPr>
            <a:endParaRPr dirty="0"/>
          </a:p>
        </p:txBody>
      </p:sp>
      <p:sp>
        <p:nvSpPr>
          <p:cNvPr id="108" name="Google Shape;10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Quick summary before the recommendations.</a:t>
            </a:r>
          </a:p>
          <a:p>
            <a:r>
              <a:rPr lang="en-US" dirty="0"/>
              <a:t>Forty-year trend — real, structural, not protest. WP strategy — working, quality over quantity confirmed by the data. Barrier — not votes, it's </a:t>
            </a:r>
            <a:r>
              <a:rPr lang="en-US" dirty="0" err="1"/>
              <a:t>organisational</a:t>
            </a:r>
            <a:r>
              <a:rPr lang="en-US" dirty="0"/>
              <a:t> capacity. And institutions — Hougang and Aljunied show they can be built. </a:t>
            </a:r>
            <a:r>
              <a:rPr lang="en-US" dirty="0" err="1"/>
              <a:t>Potong</a:t>
            </a:r>
            <a:r>
              <a:rPr lang="en-US" dirty="0"/>
              <a:t> Pasir shows the cost of not building one.</a:t>
            </a:r>
          </a:p>
          <a:p>
            <a:r>
              <a:rPr lang="en-US" dirty="0"/>
              <a:t>Three recommendations come directly from these four findings. Let's move through them quickly.</a:t>
            </a:r>
          </a:p>
          <a:p>
            <a:pPr marL="0" lvl="0" indent="0" algn="l" rtl="0">
              <a:spcBef>
                <a:spcPts val="1200"/>
              </a:spcBef>
              <a:spcAft>
                <a:spcPts val="0"/>
              </a:spcAft>
              <a:buNone/>
            </a:pPr>
            <a:endParaRPr dirty="0"/>
          </a:p>
        </p:txBody>
      </p:sp>
      <p:sp>
        <p:nvSpPr>
          <p:cNvPr id="129" name="Google Shape;12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First recommendation — and I know it sounds counterintuitive when you have momentum. Don't expand yet.</a:t>
            </a:r>
          </a:p>
          <a:p>
            <a:r>
              <a:rPr lang="en-US" dirty="0"/>
              <a:t>Look at the chart. Three bars. Hougang 62.2%. Aljunied 59.7%. Sengkang 56.3%. All three sitting below the 70% consolidation target line.</a:t>
            </a:r>
          </a:p>
          <a:p>
            <a:r>
              <a:rPr lang="en-US" dirty="0"/>
              <a:t>Why 70%? Because the historical data on Hougang and Aljunied shows that once WP crosses 60%, PAP recovery becomes structurally very difficult. 70% gives you a buffer that survives leadership changes, by-elections, and </a:t>
            </a:r>
            <a:r>
              <a:rPr lang="en-US" dirty="0" err="1"/>
              <a:t>unfavourable</a:t>
            </a:r>
            <a:r>
              <a:rPr lang="en-US" dirty="0"/>
              <a:t> national swings.</a:t>
            </a:r>
          </a:p>
          <a:p>
            <a:r>
              <a:rPr lang="en-US" dirty="0"/>
              <a:t>Now look at the Sengkang bar — it carries the annotation "Won 2020 — WP's narrowest current margin." That annotation is doing a lot of work. Sengkang was won at 52.1% in 2020 and improved to 56.3% in 2025. Progress — but not yet safe. Without deeper ground investment before 2029, it is still genuinely at risk.</a:t>
            </a:r>
          </a:p>
          <a:p>
            <a:r>
              <a:rPr lang="en-US" dirty="0"/>
              <a:t>And here is the resource logic. Every election cycle WP spends defending Sengkang nervously is a cycle they are not spending building in Tampines or East Coast. In analytics terms — stop putting resources into accounts that are already safe. Focus retention spend on the ones that are actually at churn risk.</a:t>
            </a:r>
          </a:p>
          <a:p>
            <a:r>
              <a:rPr lang="en-US" dirty="0"/>
              <a:t>Secure the base. Then grow.</a:t>
            </a:r>
          </a:p>
          <a:p>
            <a:pPr marL="0" lvl="0" indent="0" algn="l" rtl="0">
              <a:spcBef>
                <a:spcPts val="1200"/>
              </a:spcBef>
              <a:spcAft>
                <a:spcPts val="0"/>
              </a:spcAft>
              <a:buNone/>
            </a:pPr>
            <a:endParaRPr dirty="0"/>
          </a:p>
        </p:txBody>
      </p:sp>
      <p:sp>
        <p:nvSpPr>
          <p:cNvPr id="153" name="Google Shape;15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Last recommendation. This one is the most straightforward.</a:t>
            </a:r>
          </a:p>
          <a:p>
            <a:r>
              <a:rPr lang="en-US" dirty="0"/>
              <a:t>Tampines GRC 2025. PAP 52.02%. WP 47.37%. Other opposition parties — PPP and NSP combined — 0.61%.</a:t>
            </a:r>
          </a:p>
          <a:p>
            <a:r>
              <a:rPr lang="en-US" dirty="0"/>
              <a:t>Add WP and the other opposition together. 47.98%. PAP won by 4 points.</a:t>
            </a:r>
          </a:p>
          <a:p>
            <a:r>
              <a:rPr lang="en-US" dirty="0"/>
              <a:t>Now look — 0.61% alone didn't cost WP Tampines. I'm not going to overstate that. But the principle scales. Every vote that goes to a minor party with no realistic path to winning in a WP target seat is a vote that does not move the needle. It just makes the margin look slightly less bad in the post-election write-up.</a:t>
            </a:r>
          </a:p>
          <a:p>
            <a:r>
              <a:rPr lang="en-US" dirty="0"/>
              <a:t>The ask is simple. Non-competition agreements in WP's target GRCs. You don't contest our target seats, we don't contest yours. One opposition candidate per seat. Maximum concentration.</a:t>
            </a:r>
          </a:p>
          <a:p>
            <a:r>
              <a:rPr lang="en-US" dirty="0"/>
              <a:t>It's the kind of coordination problem that looks obvious from the outside and is apparently very difficult to execute in practice. Which, honestly, is very Singaporean. We can build a whole MRT network but cannot get two opposition parties to agree not to contest the same GRC.</a:t>
            </a:r>
          </a:p>
          <a:p>
            <a:r>
              <a:rPr lang="en-US" dirty="0"/>
              <a:t>The votes are there. They just need to land in one place.</a:t>
            </a:r>
          </a:p>
          <a:p>
            <a:pPr marL="0" lvl="0" indent="0" algn="l" rtl="0">
              <a:spcBef>
                <a:spcPts val="1200"/>
              </a:spcBef>
              <a:spcAft>
                <a:spcPts val="0"/>
              </a:spcAft>
              <a:buNone/>
            </a:pPr>
            <a:endParaRPr dirty="0"/>
          </a:p>
        </p:txBody>
      </p:sp>
      <p:sp>
        <p:nvSpPr>
          <p:cNvPr id="174" name="Google Shape;17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65.8% of votes. 90.6% of seats. PAP. 14.9% of votes. 9.3% of seats. WP.</a:t>
            </a:r>
          </a:p>
          <a:p>
            <a:r>
              <a:rPr lang="en-US" dirty="0"/>
              <a:t>The data is clear. The gap is real. And based on forty years of trend data — it is not closing on its own.</a:t>
            </a:r>
          </a:p>
          <a:p>
            <a:r>
              <a:rPr lang="en-US" dirty="0"/>
              <a:t>Three things need to happen. Consolidate the strongholds. Build the teams. Stop splitting the vote.</a:t>
            </a:r>
          </a:p>
          <a:p>
            <a:r>
              <a:rPr lang="en-US" dirty="0"/>
              <a:t>None of this requires a policy change. Just </a:t>
            </a:r>
            <a:r>
              <a:rPr lang="en-US" dirty="0" err="1"/>
              <a:t>organisation</a:t>
            </a:r>
            <a:r>
              <a:rPr lang="en-US" dirty="0"/>
              <a:t>, patience, and maybe a bit less </a:t>
            </a:r>
            <a:r>
              <a:rPr lang="en-US" dirty="0" err="1"/>
              <a:t>kiasu</a:t>
            </a:r>
            <a:r>
              <a:rPr lang="en-US" dirty="0"/>
              <a:t>-ness between opposition parties.</a:t>
            </a:r>
          </a:p>
          <a:p>
            <a:r>
              <a:rPr lang="en-US" dirty="0"/>
              <a:t>Thank you.</a:t>
            </a:r>
          </a:p>
          <a:p>
            <a:pPr marL="0" lvl="0" indent="0" algn="l" rtl="0">
              <a:spcBef>
                <a:spcPts val="1200"/>
              </a:spcBef>
              <a:spcAft>
                <a:spcPts val="0"/>
              </a:spcAft>
              <a:buNone/>
            </a:pPr>
            <a:endParaRPr dirty="0"/>
          </a:p>
        </p:txBody>
      </p:sp>
      <p:sp>
        <p:nvSpPr>
          <p:cNvPr id="191" name="Google Shape;19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nlb.gov.sg/main/article-detail?cmsuuid=011bf829-5852-4c46-b1fd-7b7a70b0f53b"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
          <p:cNvSpPr/>
          <p:nvPr/>
        </p:nvSpPr>
        <p:spPr>
          <a:xfrm>
            <a:off x="0" y="0"/>
            <a:ext cx="182880" cy="51435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8961120" y="0"/>
            <a:ext cx="182880" cy="51435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457200" y="1005840"/>
            <a:ext cx="822960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C"/>
              </a:buClr>
              <a:buSzPts val="1000"/>
              <a:buFont typeface="Calibri"/>
              <a:buNone/>
            </a:pPr>
            <a:r>
              <a:rPr lang="en-US" sz="1000" b="1" i="0" u="none" strike="noStrike" cap="none">
                <a:solidFill>
                  <a:srgbClr val="C9A84C"/>
                </a:solidFill>
                <a:latin typeface="Lato"/>
                <a:ea typeface="Lato"/>
                <a:cs typeface="Lato"/>
                <a:sym typeface="Lato"/>
              </a:rPr>
              <a:t>DATA JOURNALISM  ·  SINGAPORE POLITICS  ·  1955–2025</a:t>
            </a:r>
            <a:endParaRPr sz="1000" i="0" u="none" strike="noStrike" cap="none">
              <a:solidFill>
                <a:schemeClr val="dk1"/>
              </a:solidFill>
              <a:latin typeface="Lato"/>
              <a:ea typeface="Lato"/>
              <a:cs typeface="Lato"/>
              <a:sym typeface="Lato"/>
            </a:endParaRPr>
          </a:p>
        </p:txBody>
      </p:sp>
      <p:sp>
        <p:nvSpPr>
          <p:cNvPr id="19" name="Google Shape;19;p1"/>
          <p:cNvSpPr/>
          <p:nvPr/>
        </p:nvSpPr>
        <p:spPr>
          <a:xfrm>
            <a:off x="457200" y="1508760"/>
            <a:ext cx="8229600"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400"/>
              <a:buFont typeface="Calibri"/>
              <a:buNone/>
            </a:pPr>
            <a:r>
              <a:rPr lang="en-US" sz="4400" b="1" i="0" u="none" strike="noStrike" cap="none" dirty="0">
                <a:solidFill>
                  <a:schemeClr val="dk2"/>
                </a:solidFill>
                <a:latin typeface="Newsreader"/>
                <a:ea typeface="Newsreader"/>
                <a:cs typeface="Newsreader"/>
                <a:sym typeface="Newsreader"/>
              </a:rPr>
              <a:t>The Quiet Revolution</a:t>
            </a:r>
            <a:endParaRPr sz="4400" b="1" i="0" u="none" strike="noStrike" cap="none" dirty="0">
              <a:solidFill>
                <a:schemeClr val="dk2"/>
              </a:solidFill>
              <a:latin typeface="Newsreader"/>
              <a:ea typeface="Newsreader"/>
              <a:cs typeface="Newsreader"/>
              <a:sym typeface="Newsreader"/>
            </a:endParaRPr>
          </a:p>
        </p:txBody>
      </p:sp>
      <p:sp>
        <p:nvSpPr>
          <p:cNvPr id="20" name="Google Shape;20;p1"/>
          <p:cNvSpPr/>
          <p:nvPr/>
        </p:nvSpPr>
        <p:spPr>
          <a:xfrm>
            <a:off x="457200" y="2377440"/>
            <a:ext cx="8229600" cy="5943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AAAACC"/>
              </a:buClr>
              <a:buSzPts val="2000"/>
              <a:buFont typeface="Calibri"/>
              <a:buNone/>
            </a:pPr>
            <a:r>
              <a:rPr lang="en-US" sz="2000" i="1" u="none" strike="noStrike" cap="none">
                <a:solidFill>
                  <a:srgbClr val="AAAACC"/>
                </a:solidFill>
                <a:latin typeface="Newsreader"/>
                <a:ea typeface="Newsreader"/>
                <a:cs typeface="Newsreader"/>
                <a:sym typeface="Newsreader"/>
              </a:rPr>
              <a:t>How Singapore's Opposition Is Winning Without Winning</a:t>
            </a:r>
            <a:endParaRPr sz="2000" i="0" u="none" strike="noStrike" cap="none">
              <a:solidFill>
                <a:schemeClr val="dk1"/>
              </a:solidFill>
              <a:latin typeface="Newsreader"/>
              <a:ea typeface="Newsreader"/>
              <a:cs typeface="Newsreader"/>
              <a:sym typeface="Newsreader"/>
            </a:endParaRPr>
          </a:p>
        </p:txBody>
      </p:sp>
      <p:cxnSp>
        <p:nvCxnSpPr>
          <p:cNvPr id="21" name="Google Shape;21;p1"/>
          <p:cNvCxnSpPr/>
          <p:nvPr/>
        </p:nvCxnSpPr>
        <p:spPr>
          <a:xfrm>
            <a:off x="2743200" y="3154680"/>
            <a:ext cx="3657600" cy="0"/>
          </a:xfrm>
          <a:prstGeom prst="straightConnector1">
            <a:avLst/>
          </a:prstGeom>
          <a:noFill/>
          <a:ln w="12700" cap="flat" cmpd="sng">
            <a:solidFill>
              <a:srgbClr val="C9A84C"/>
            </a:solidFill>
            <a:prstDash val="solid"/>
            <a:round/>
            <a:headEnd type="none" w="sm" len="sm"/>
            <a:tailEnd type="none" w="sm" len="sm"/>
          </a:ln>
        </p:spPr>
      </p:cxnSp>
      <p:sp>
        <p:nvSpPr>
          <p:cNvPr id="22" name="Google Shape;22;p1"/>
          <p:cNvSpPr/>
          <p:nvPr/>
        </p:nvSpPr>
        <p:spPr>
          <a:xfrm>
            <a:off x="457200" y="3337560"/>
            <a:ext cx="822960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8888"/>
              </a:buClr>
              <a:buSzPts val="1100"/>
              <a:buFont typeface="Calibri"/>
              <a:buNone/>
            </a:pPr>
            <a:r>
              <a:rPr lang="en-US" sz="1100" i="0" u="none" strike="noStrike" cap="none">
                <a:solidFill>
                  <a:srgbClr val="888888"/>
                </a:solidFill>
                <a:latin typeface="Lato"/>
                <a:ea typeface="Lato"/>
                <a:cs typeface="Lato"/>
                <a:sym typeface="Lato"/>
              </a:rPr>
              <a:t>Lucas Sam  ·  February 2026</a:t>
            </a:r>
            <a:endParaRPr sz="1100" i="0" u="none" strike="noStrike" cap="none">
              <a:solidFill>
                <a:schemeClr val="dk1"/>
              </a:solidFill>
              <a:latin typeface="Lato"/>
              <a:ea typeface="Lato"/>
              <a:cs typeface="Lato"/>
              <a:sym typeface="Lato"/>
            </a:endParaRPr>
          </a:p>
        </p:txBody>
      </p:sp>
      <p:sp>
        <p:nvSpPr>
          <p:cNvPr id="23" name="Google Shape;23;p1"/>
          <p:cNvSpPr/>
          <p:nvPr/>
        </p:nvSpPr>
        <p:spPr>
          <a:xfrm>
            <a:off x="457200" y="4754880"/>
            <a:ext cx="822960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44466"/>
              </a:buClr>
              <a:buSzPts val="800"/>
              <a:buFont typeface="Calibri"/>
              <a:buNone/>
            </a:pPr>
            <a:r>
              <a:rPr lang="en-US" sz="800" i="0" u="none" strike="noStrike" cap="none">
                <a:solidFill>
                  <a:srgbClr val="444466"/>
                </a:solidFill>
                <a:latin typeface="Lato"/>
                <a:ea typeface="Lato"/>
                <a:cs typeface="Lato"/>
                <a:sym typeface="Lato"/>
              </a:rPr>
              <a:t>Analysis based on 32 constituencies with available historical data.</a:t>
            </a:r>
            <a:endParaRPr sz="800" i="0" u="none" strike="noStrike" cap="none">
              <a:solidFill>
                <a:schemeClr val="dk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
        <p:cNvGrpSpPr/>
        <p:nvPr/>
      </p:nvGrpSpPr>
      <p:grpSpPr>
        <a:xfrm>
          <a:off x="0" y="0"/>
          <a:ext cx="0" cy="0"/>
          <a:chOff x="0" y="0"/>
          <a:chExt cx="0" cy="0"/>
        </a:xfrm>
      </p:grpSpPr>
      <p:sp>
        <p:nvSpPr>
          <p:cNvPr id="29" name="Google Shape;29;p2"/>
          <p:cNvSpPr/>
          <p:nvPr/>
        </p:nvSpPr>
        <p:spPr>
          <a:xfrm>
            <a:off x="0" y="0"/>
            <a:ext cx="9144000" cy="54864"/>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048800" y="-129825"/>
            <a:ext cx="7046400" cy="100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3400"/>
              <a:buFont typeface="Calibri"/>
              <a:buNone/>
            </a:pPr>
            <a:r>
              <a:rPr lang="en-US" sz="2000" b="1" i="0" u="none" strike="noStrike" cap="none">
                <a:solidFill>
                  <a:srgbClr val="1A1A2E"/>
                </a:solidFill>
                <a:latin typeface="Newsreader"/>
                <a:ea typeface="Newsreader"/>
                <a:cs typeface="Newsreader"/>
                <a:sym typeface="Newsreader"/>
              </a:rPr>
              <a:t>The votes are moving</a:t>
            </a:r>
            <a:r>
              <a:rPr lang="en-US" sz="2000" b="1">
                <a:solidFill>
                  <a:srgbClr val="1A1A2E"/>
                </a:solidFill>
                <a:latin typeface="Newsreader"/>
                <a:ea typeface="Newsreader"/>
                <a:cs typeface="Newsreader"/>
                <a:sym typeface="Newsreader"/>
              </a:rPr>
              <a:t>, t</a:t>
            </a:r>
            <a:r>
              <a:rPr lang="en-US" sz="2000" b="1" i="0" u="none" strike="noStrike" cap="none">
                <a:solidFill>
                  <a:srgbClr val="1A1A2E"/>
                </a:solidFill>
                <a:latin typeface="Newsreader"/>
                <a:ea typeface="Newsreader"/>
                <a:cs typeface="Newsreader"/>
                <a:sym typeface="Newsreader"/>
              </a:rPr>
              <a:t>he seats are not</a:t>
            </a:r>
            <a:endParaRPr sz="2000" i="0" u="none" strike="noStrike" cap="none">
              <a:solidFill>
                <a:schemeClr val="dk1"/>
              </a:solidFill>
              <a:latin typeface="Newsreader"/>
              <a:ea typeface="Newsreader"/>
              <a:cs typeface="Newsreader"/>
              <a:sym typeface="Newsreader"/>
            </a:endParaRPr>
          </a:p>
        </p:txBody>
      </p:sp>
      <p:pic>
        <p:nvPicPr>
          <p:cNvPr id="31" name="Google Shape;31;p2"/>
          <p:cNvPicPr preferRelativeResize="0"/>
          <p:nvPr/>
        </p:nvPicPr>
        <p:blipFill>
          <a:blip r:embed="rId3">
            <a:alphaModFix/>
          </a:blip>
          <a:stretch>
            <a:fillRect/>
          </a:stretch>
        </p:blipFill>
        <p:spPr>
          <a:xfrm>
            <a:off x="762950" y="664350"/>
            <a:ext cx="7621924" cy="439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36"/>
        <p:cNvGrpSpPr/>
        <p:nvPr/>
      </p:nvGrpSpPr>
      <p:grpSpPr>
        <a:xfrm>
          <a:off x="0" y="0"/>
          <a:ext cx="0" cy="0"/>
          <a:chOff x="0" y="0"/>
          <a:chExt cx="0" cy="0"/>
        </a:xfrm>
      </p:grpSpPr>
      <p:sp>
        <p:nvSpPr>
          <p:cNvPr id="37" name="Google Shape;37;p3"/>
          <p:cNvSpPr/>
          <p:nvPr/>
        </p:nvSpPr>
        <p:spPr>
          <a:xfrm>
            <a:off x="0" y="0"/>
            <a:ext cx="9144000" cy="54864"/>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57200" y="-5"/>
            <a:ext cx="82296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400"/>
              <a:buFont typeface="Calibri"/>
              <a:buNone/>
            </a:pPr>
            <a:r>
              <a:rPr lang="en-US" sz="2000" b="1">
                <a:solidFill>
                  <a:srgbClr val="1A1A2E"/>
                </a:solidFill>
                <a:latin typeface="Newsreader"/>
                <a:ea typeface="Newsreader"/>
                <a:cs typeface="Newsreader"/>
                <a:sym typeface="Newsreader"/>
              </a:rPr>
              <a:t>The opposition vote has been growing for 40 years</a:t>
            </a:r>
            <a:endParaRPr sz="2000" i="0" u="none" strike="noStrike" cap="none">
              <a:solidFill>
                <a:schemeClr val="dk1"/>
              </a:solidFill>
              <a:latin typeface="Newsreader"/>
              <a:ea typeface="Newsreader"/>
              <a:cs typeface="Newsreader"/>
              <a:sym typeface="Newsreader"/>
            </a:endParaRPr>
          </a:p>
        </p:txBody>
      </p:sp>
      <p:sp>
        <p:nvSpPr>
          <p:cNvPr id="39" name="Google Shape;39;p3"/>
          <p:cNvSpPr/>
          <p:nvPr/>
        </p:nvSpPr>
        <p:spPr>
          <a:xfrm>
            <a:off x="6708275" y="1283580"/>
            <a:ext cx="1920300" cy="9600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FF0000"/>
                </a:solidFill>
                <a:latin typeface="Newsreader Medium"/>
                <a:ea typeface="Newsreader Medium"/>
                <a:cs typeface="Newsreader Medium"/>
                <a:sym typeface="Newsreader Medium"/>
              </a:rPr>
              <a:t>75% Vote Share</a:t>
            </a:r>
            <a:endParaRPr sz="1200">
              <a:solidFill>
                <a:srgbClr val="FF0000"/>
              </a:solidFill>
              <a:latin typeface="Newsreader Medium"/>
              <a:ea typeface="Newsreader Medium"/>
              <a:cs typeface="Newsreader Medium"/>
              <a:sym typeface="Newsreader Medium"/>
            </a:endParaRPr>
          </a:p>
          <a:p>
            <a:pPr marL="0" lvl="0" indent="0" algn="l" rtl="0">
              <a:spcBef>
                <a:spcPts val="0"/>
              </a:spcBef>
              <a:spcAft>
                <a:spcPts val="0"/>
              </a:spcAft>
              <a:buNone/>
            </a:pPr>
            <a:r>
              <a:rPr lang="en-US" sz="1000">
                <a:latin typeface="Newsreader Medium"/>
                <a:ea typeface="Newsreader Medium"/>
                <a:cs typeface="Newsreader Medium"/>
                <a:sym typeface="Newsreader Medium"/>
              </a:rPr>
              <a:t>PAP peak vote in recent elections in 2001</a:t>
            </a:r>
            <a:endParaRPr sz="1000">
              <a:latin typeface="Newsreader Medium"/>
              <a:ea typeface="Newsreader Medium"/>
              <a:cs typeface="Newsreader Medium"/>
              <a:sym typeface="Newsreader Medium"/>
            </a:endParaRPr>
          </a:p>
        </p:txBody>
      </p:sp>
      <p:sp>
        <p:nvSpPr>
          <p:cNvPr id="40" name="Google Shape;40;p3"/>
          <p:cNvSpPr/>
          <p:nvPr/>
        </p:nvSpPr>
        <p:spPr>
          <a:xfrm>
            <a:off x="6644375" y="1283580"/>
            <a:ext cx="63900" cy="9600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6708275" y="2509198"/>
            <a:ext cx="1920300" cy="9600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FF0000"/>
                </a:solidFill>
                <a:latin typeface="Newsreader Medium"/>
                <a:ea typeface="Newsreader Medium"/>
                <a:cs typeface="Newsreader Medium"/>
                <a:sym typeface="Newsreader Medium"/>
              </a:rPr>
              <a:t>60% Vote Share</a:t>
            </a:r>
            <a:endParaRPr sz="1200">
              <a:solidFill>
                <a:srgbClr val="FF0000"/>
              </a:solidFill>
              <a:latin typeface="Newsreader Medium"/>
              <a:ea typeface="Newsreader Medium"/>
              <a:cs typeface="Newsreader Medium"/>
              <a:sym typeface="Newsreader Medium"/>
            </a:endParaRPr>
          </a:p>
          <a:p>
            <a:pPr marL="0" lvl="0" indent="0" algn="l" rtl="0">
              <a:spcBef>
                <a:spcPts val="0"/>
              </a:spcBef>
              <a:spcAft>
                <a:spcPts val="0"/>
              </a:spcAft>
              <a:buNone/>
            </a:pPr>
            <a:r>
              <a:rPr lang="en-US" sz="1000">
                <a:latin typeface="Newsreader Medium"/>
                <a:ea typeface="Newsreader Medium"/>
                <a:cs typeface="Newsreader Medium"/>
                <a:sym typeface="Newsreader Medium"/>
              </a:rPr>
              <a:t>PAP’s low in 2011</a:t>
            </a:r>
            <a:endParaRPr sz="1000">
              <a:latin typeface="Newsreader Medium"/>
              <a:ea typeface="Newsreader Medium"/>
              <a:cs typeface="Newsreader Medium"/>
              <a:sym typeface="Newsreader Medium"/>
            </a:endParaRPr>
          </a:p>
        </p:txBody>
      </p:sp>
      <p:sp>
        <p:nvSpPr>
          <p:cNvPr id="42" name="Google Shape;42;p3"/>
          <p:cNvSpPr/>
          <p:nvPr/>
        </p:nvSpPr>
        <p:spPr>
          <a:xfrm>
            <a:off x="6644338" y="2509210"/>
            <a:ext cx="63900" cy="9600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6708275" y="3734815"/>
            <a:ext cx="1920300" cy="9600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chemeClr val="accent1"/>
                </a:solidFill>
                <a:latin typeface="Newsreader Medium"/>
                <a:ea typeface="Newsreader Medium"/>
                <a:cs typeface="Newsreader Medium"/>
                <a:sym typeface="Newsreader Medium"/>
              </a:rPr>
              <a:t>16% Vote Share </a:t>
            </a:r>
            <a:endParaRPr sz="1200">
              <a:solidFill>
                <a:schemeClr val="accent1"/>
              </a:solidFill>
              <a:latin typeface="Newsreader Medium"/>
              <a:ea typeface="Newsreader Medium"/>
              <a:cs typeface="Newsreader Medium"/>
              <a:sym typeface="Newsreader Medium"/>
            </a:endParaRPr>
          </a:p>
          <a:p>
            <a:pPr marL="0" lvl="0" indent="0" algn="l" rtl="0">
              <a:spcBef>
                <a:spcPts val="0"/>
              </a:spcBef>
              <a:spcAft>
                <a:spcPts val="0"/>
              </a:spcAft>
              <a:buNone/>
            </a:pPr>
            <a:r>
              <a:rPr lang="en-US" sz="1000">
                <a:latin typeface="Newsreader Medium"/>
                <a:ea typeface="Newsreader Medium"/>
                <a:cs typeface="Newsreader Medium"/>
                <a:sym typeface="Newsreader Medium"/>
              </a:rPr>
              <a:t>WP’s Breakthrough in 2006</a:t>
            </a:r>
            <a:endParaRPr sz="1000">
              <a:latin typeface="Newsreader Medium"/>
              <a:ea typeface="Newsreader Medium"/>
              <a:cs typeface="Newsreader Medium"/>
              <a:sym typeface="Newsreader Medium"/>
            </a:endParaRPr>
          </a:p>
        </p:txBody>
      </p:sp>
      <p:sp>
        <p:nvSpPr>
          <p:cNvPr id="44" name="Google Shape;44;p3"/>
          <p:cNvSpPr/>
          <p:nvPr/>
        </p:nvSpPr>
        <p:spPr>
          <a:xfrm>
            <a:off x="6644338" y="3734815"/>
            <a:ext cx="63900" cy="9600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3"/>
          <p:cNvPicPr preferRelativeResize="0"/>
          <p:nvPr/>
        </p:nvPicPr>
        <p:blipFill>
          <a:blip r:embed="rId3">
            <a:alphaModFix/>
          </a:blip>
          <a:stretch>
            <a:fillRect/>
          </a:stretch>
        </p:blipFill>
        <p:spPr>
          <a:xfrm>
            <a:off x="152400" y="1066795"/>
            <a:ext cx="6339538" cy="38167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50"/>
        <p:cNvGrpSpPr/>
        <p:nvPr/>
      </p:nvGrpSpPr>
      <p:grpSpPr>
        <a:xfrm>
          <a:off x="0" y="0"/>
          <a:ext cx="0" cy="0"/>
          <a:chOff x="0" y="0"/>
          <a:chExt cx="0" cy="0"/>
        </a:xfrm>
      </p:grpSpPr>
      <p:sp>
        <p:nvSpPr>
          <p:cNvPr id="51" name="Google Shape;51;p4"/>
          <p:cNvSpPr/>
          <p:nvPr/>
        </p:nvSpPr>
        <p:spPr>
          <a:xfrm>
            <a:off x="0" y="0"/>
            <a:ext cx="9144000" cy="54864"/>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457200" y="54870"/>
            <a:ext cx="82296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400"/>
              <a:buFont typeface="Calibri"/>
              <a:buNone/>
            </a:pPr>
            <a:r>
              <a:rPr lang="en-US" sz="2000" b="1">
                <a:solidFill>
                  <a:srgbClr val="1A1A2E"/>
                </a:solidFill>
                <a:latin typeface="Newsreader"/>
                <a:ea typeface="Newsreader"/>
                <a:cs typeface="Newsreader"/>
                <a:sym typeface="Newsreader"/>
              </a:rPr>
              <a:t>WP contests fewer seats than ever — and wins more of them</a:t>
            </a:r>
            <a:endParaRPr sz="2000" i="0" u="none" strike="noStrike" cap="none">
              <a:solidFill>
                <a:schemeClr val="dk1"/>
              </a:solidFill>
              <a:latin typeface="Newsreader"/>
              <a:ea typeface="Newsreader"/>
              <a:cs typeface="Newsreader"/>
              <a:sym typeface="Newsreader"/>
            </a:endParaRPr>
          </a:p>
        </p:txBody>
      </p:sp>
      <p:pic>
        <p:nvPicPr>
          <p:cNvPr id="54" name="Google Shape;54;p4"/>
          <p:cNvPicPr preferRelativeResize="0"/>
          <p:nvPr/>
        </p:nvPicPr>
        <p:blipFill>
          <a:blip r:embed="rId3">
            <a:alphaModFix/>
          </a:blip>
          <a:stretch>
            <a:fillRect/>
          </a:stretch>
        </p:blipFill>
        <p:spPr>
          <a:xfrm>
            <a:off x="124000" y="988400"/>
            <a:ext cx="4367299" cy="3598249"/>
          </a:xfrm>
          <a:prstGeom prst="rect">
            <a:avLst/>
          </a:prstGeom>
          <a:noFill/>
          <a:ln>
            <a:noFill/>
          </a:ln>
        </p:spPr>
      </p:pic>
      <p:pic>
        <p:nvPicPr>
          <p:cNvPr id="55" name="Google Shape;55;p4"/>
          <p:cNvPicPr preferRelativeResize="0"/>
          <p:nvPr/>
        </p:nvPicPr>
        <p:blipFill>
          <a:blip r:embed="rId4">
            <a:alphaModFix/>
          </a:blip>
          <a:stretch>
            <a:fillRect/>
          </a:stretch>
        </p:blipFill>
        <p:spPr>
          <a:xfrm>
            <a:off x="4700525" y="988400"/>
            <a:ext cx="4291077" cy="3585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60"/>
        <p:cNvGrpSpPr/>
        <p:nvPr/>
      </p:nvGrpSpPr>
      <p:grpSpPr>
        <a:xfrm>
          <a:off x="0" y="0"/>
          <a:ext cx="0" cy="0"/>
          <a:chOff x="0" y="0"/>
          <a:chExt cx="0" cy="0"/>
        </a:xfrm>
      </p:grpSpPr>
      <p:sp>
        <p:nvSpPr>
          <p:cNvPr id="61" name="Google Shape;61;p5"/>
          <p:cNvSpPr/>
          <p:nvPr/>
        </p:nvSpPr>
        <p:spPr>
          <a:xfrm>
            <a:off x="0" y="0"/>
            <a:ext cx="9144000" cy="54864"/>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457200" y="298870"/>
            <a:ext cx="8229600" cy="594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800"/>
              <a:buFont typeface="Calibri"/>
              <a:buNone/>
            </a:pPr>
            <a:r>
              <a:rPr lang="en-US" sz="2000" b="1">
                <a:solidFill>
                  <a:srgbClr val="1A1A2E"/>
                </a:solidFill>
                <a:latin typeface="Newsreader"/>
                <a:ea typeface="Newsreader"/>
                <a:cs typeface="Newsreader"/>
                <a:sym typeface="Newsreader"/>
              </a:rPr>
              <a:t>The votes are there, the teams are not</a:t>
            </a:r>
            <a:endParaRPr sz="2000" i="0" u="none" strike="noStrike" cap="none">
              <a:solidFill>
                <a:schemeClr val="dk1"/>
              </a:solidFill>
              <a:latin typeface="Newsreader"/>
              <a:ea typeface="Newsreader"/>
              <a:cs typeface="Newsreader"/>
              <a:sym typeface="Newsreader"/>
            </a:endParaRPr>
          </a:p>
        </p:txBody>
      </p:sp>
      <p:sp>
        <p:nvSpPr>
          <p:cNvPr id="63" name="Google Shape;63;p5"/>
          <p:cNvSpPr/>
          <p:nvPr/>
        </p:nvSpPr>
        <p:spPr>
          <a:xfrm>
            <a:off x="5669280" y="1234440"/>
            <a:ext cx="3108960" cy="105156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5669280" y="1234440"/>
            <a:ext cx="64008" cy="105156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5833872" y="1325880"/>
            <a:ext cx="2834640"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200"/>
              <a:buFont typeface="Calibri"/>
              <a:buNone/>
            </a:pPr>
            <a:r>
              <a:rPr lang="en-US" sz="1200" b="1">
                <a:solidFill>
                  <a:schemeClr val="dk1"/>
                </a:solidFill>
                <a:latin typeface="Newsreader"/>
                <a:ea typeface="Newsreader"/>
                <a:cs typeface="Newsreader"/>
                <a:sym typeface="Newsreader"/>
              </a:rPr>
              <a:t>50.5% Average</a:t>
            </a:r>
            <a:endParaRPr sz="1200" b="1" i="0" u="none" strike="noStrike" cap="none">
              <a:solidFill>
                <a:schemeClr val="dk1"/>
              </a:solidFill>
              <a:latin typeface="Newsreader"/>
              <a:ea typeface="Newsreader"/>
              <a:cs typeface="Newsreader"/>
              <a:sym typeface="Newsreader"/>
            </a:endParaRPr>
          </a:p>
        </p:txBody>
      </p:sp>
      <p:sp>
        <p:nvSpPr>
          <p:cNvPr id="66" name="Google Shape;66;p5"/>
          <p:cNvSpPr/>
          <p:nvPr/>
        </p:nvSpPr>
        <p:spPr>
          <a:xfrm>
            <a:off x="5833872" y="1655064"/>
            <a:ext cx="28346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000"/>
              <a:buFont typeface="Calibri"/>
              <a:buNone/>
            </a:pPr>
            <a:r>
              <a:rPr lang="en-US" sz="1000">
                <a:solidFill>
                  <a:schemeClr val="dk1"/>
                </a:solidFill>
                <a:latin typeface="Newsreader"/>
                <a:ea typeface="Newsreader"/>
                <a:cs typeface="Newsreader"/>
                <a:sym typeface="Newsreader"/>
              </a:rPr>
              <a:t>WP’s average vote share across all seats that they contested in 2025.</a:t>
            </a:r>
            <a:endParaRPr sz="1000" i="0" u="none" strike="noStrike" cap="none">
              <a:solidFill>
                <a:schemeClr val="dk1"/>
              </a:solidFill>
              <a:latin typeface="Newsreader"/>
              <a:ea typeface="Newsreader"/>
              <a:cs typeface="Newsreader"/>
              <a:sym typeface="Newsreader"/>
            </a:endParaRPr>
          </a:p>
        </p:txBody>
      </p:sp>
      <p:sp>
        <p:nvSpPr>
          <p:cNvPr id="67" name="Google Shape;67;p5"/>
          <p:cNvSpPr/>
          <p:nvPr/>
        </p:nvSpPr>
        <p:spPr>
          <a:xfrm>
            <a:off x="5669280" y="2404872"/>
            <a:ext cx="3108960" cy="105156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5669280" y="2404872"/>
            <a:ext cx="64008" cy="105156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5833872" y="2496312"/>
            <a:ext cx="2834640"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200"/>
              <a:buFont typeface="Calibri"/>
              <a:buNone/>
            </a:pPr>
            <a:r>
              <a:rPr lang="en-US" sz="1200" b="1" i="0" u="none" strike="noStrike" cap="none">
                <a:solidFill>
                  <a:srgbClr val="1A1A2E"/>
                </a:solidFill>
                <a:latin typeface="Newsreader"/>
                <a:ea typeface="Newsreader"/>
                <a:cs typeface="Newsreader"/>
                <a:sym typeface="Newsreader"/>
              </a:rPr>
              <a:t>Real barrier: fielding teams</a:t>
            </a:r>
            <a:endParaRPr sz="1200" i="0" u="none" strike="noStrike" cap="none">
              <a:solidFill>
                <a:schemeClr val="dk1"/>
              </a:solidFill>
              <a:latin typeface="Newsreader"/>
              <a:ea typeface="Newsreader"/>
              <a:cs typeface="Newsreader"/>
              <a:sym typeface="Newsreader"/>
            </a:endParaRPr>
          </a:p>
        </p:txBody>
      </p:sp>
      <p:sp>
        <p:nvSpPr>
          <p:cNvPr id="70" name="Google Shape;70;p5"/>
          <p:cNvSpPr/>
          <p:nvPr/>
        </p:nvSpPr>
        <p:spPr>
          <a:xfrm>
            <a:off x="5833872" y="2825496"/>
            <a:ext cx="28346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000"/>
              <a:buFont typeface="Calibri"/>
              <a:buNone/>
            </a:pPr>
            <a:r>
              <a:rPr lang="en-US" sz="1000" i="0" u="none" strike="noStrike" cap="none">
                <a:solidFill>
                  <a:srgbClr val="4A4A5A"/>
                </a:solidFill>
                <a:latin typeface="Newsreader"/>
                <a:ea typeface="Newsreader"/>
                <a:cs typeface="Newsreader"/>
                <a:sym typeface="Newsreader"/>
              </a:rPr>
              <a:t>GRCs require 3–6 credible candidates per contest. </a:t>
            </a:r>
            <a:r>
              <a:rPr lang="en-US" sz="1000">
                <a:solidFill>
                  <a:srgbClr val="4A4A5A"/>
                </a:solidFill>
                <a:latin typeface="Newsreader"/>
                <a:ea typeface="Newsreader"/>
                <a:cs typeface="Newsreader"/>
                <a:sym typeface="Newsreader"/>
              </a:rPr>
              <a:t>That’s a pipeline problem - note a votes problems</a:t>
            </a:r>
            <a:endParaRPr sz="1000" i="0" u="none" strike="noStrike" cap="none">
              <a:solidFill>
                <a:schemeClr val="dk1"/>
              </a:solidFill>
              <a:latin typeface="Newsreader"/>
              <a:ea typeface="Newsreader"/>
              <a:cs typeface="Newsreader"/>
              <a:sym typeface="Newsreader"/>
            </a:endParaRPr>
          </a:p>
        </p:txBody>
      </p:sp>
      <p:sp>
        <p:nvSpPr>
          <p:cNvPr id="71" name="Google Shape;71;p5"/>
          <p:cNvSpPr/>
          <p:nvPr/>
        </p:nvSpPr>
        <p:spPr>
          <a:xfrm>
            <a:off x="5669280" y="3575304"/>
            <a:ext cx="3108960" cy="105156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5669280" y="3575304"/>
            <a:ext cx="64008" cy="105156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5833872" y="3666744"/>
            <a:ext cx="2834640"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200"/>
              <a:buFont typeface="Calibri"/>
              <a:buNone/>
            </a:pPr>
            <a:r>
              <a:rPr lang="en-US" sz="1200" b="1">
                <a:solidFill>
                  <a:srgbClr val="1A1A2E"/>
                </a:solidFill>
                <a:latin typeface="Newsreader"/>
                <a:ea typeface="Newsreader"/>
                <a:cs typeface="Newsreader"/>
                <a:sym typeface="Newsreader"/>
              </a:rPr>
              <a:t>The Gap is Closing</a:t>
            </a:r>
            <a:endParaRPr sz="1200" i="0" u="none" strike="noStrike" cap="none">
              <a:solidFill>
                <a:schemeClr val="dk1"/>
              </a:solidFill>
              <a:latin typeface="Newsreader"/>
              <a:ea typeface="Newsreader"/>
              <a:cs typeface="Newsreader"/>
              <a:sym typeface="Newsreader"/>
            </a:endParaRPr>
          </a:p>
        </p:txBody>
      </p:sp>
      <p:sp>
        <p:nvSpPr>
          <p:cNvPr id="74" name="Google Shape;74;p5"/>
          <p:cNvSpPr/>
          <p:nvPr/>
        </p:nvSpPr>
        <p:spPr>
          <a:xfrm>
            <a:off x="5833872" y="3995928"/>
            <a:ext cx="28346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000"/>
              <a:buFont typeface="Calibri"/>
              <a:buNone/>
            </a:pPr>
            <a:r>
              <a:rPr lang="en-US" sz="1000">
                <a:solidFill>
                  <a:srgbClr val="4A4A5A"/>
                </a:solidFill>
                <a:latin typeface="Newsreader"/>
                <a:ea typeface="Newsreader"/>
                <a:cs typeface="Newsreader"/>
                <a:sym typeface="Newsreader"/>
              </a:rPr>
              <a:t>WP contested vote share rose from 12.59% in 1959 to 50.5% in 2025. The trajectory is consistent.</a:t>
            </a:r>
            <a:endParaRPr sz="1000" i="0" u="none" strike="noStrike" cap="none">
              <a:solidFill>
                <a:schemeClr val="dk1"/>
              </a:solidFill>
              <a:latin typeface="Newsreader"/>
              <a:ea typeface="Newsreader"/>
              <a:cs typeface="Newsreader"/>
              <a:sym typeface="Newsreader"/>
            </a:endParaRPr>
          </a:p>
        </p:txBody>
      </p:sp>
      <p:pic>
        <p:nvPicPr>
          <p:cNvPr id="75" name="Google Shape;75;p5"/>
          <p:cNvPicPr preferRelativeResize="0"/>
          <p:nvPr/>
        </p:nvPicPr>
        <p:blipFill>
          <a:blip r:embed="rId3">
            <a:alphaModFix/>
          </a:blip>
          <a:stretch>
            <a:fillRect/>
          </a:stretch>
        </p:blipFill>
        <p:spPr>
          <a:xfrm>
            <a:off x="67125" y="1137187"/>
            <a:ext cx="5486403" cy="3657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80"/>
        <p:cNvGrpSpPr/>
        <p:nvPr/>
      </p:nvGrpSpPr>
      <p:grpSpPr>
        <a:xfrm>
          <a:off x="0" y="0"/>
          <a:ext cx="0" cy="0"/>
          <a:chOff x="0" y="0"/>
          <a:chExt cx="0" cy="0"/>
        </a:xfrm>
      </p:grpSpPr>
      <p:sp>
        <p:nvSpPr>
          <p:cNvPr id="81" name="Google Shape;81;p6"/>
          <p:cNvSpPr/>
          <p:nvPr/>
        </p:nvSpPr>
        <p:spPr>
          <a:xfrm>
            <a:off x="0" y="0"/>
            <a:ext cx="9144000" cy="54864"/>
          </a:xfrm>
          <a:prstGeom prst="rect">
            <a:avLst/>
          </a:prstGeom>
          <a:solidFill>
            <a:srgbClr val="C9A84C"/>
          </a:solidFill>
          <a:ln w="12700" cap="flat" cmpd="sng">
            <a:solidFill>
              <a:srgbClr val="C9A8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457200" y="54877"/>
            <a:ext cx="8229600" cy="647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600"/>
              <a:buFont typeface="Calibri"/>
              <a:buNone/>
            </a:pPr>
            <a:r>
              <a:rPr lang="en-US" sz="2000" b="1">
                <a:solidFill>
                  <a:srgbClr val="1A1A2E"/>
                </a:solidFill>
                <a:latin typeface="Newsreader"/>
                <a:ea typeface="Newsreader"/>
                <a:cs typeface="Newsreader"/>
                <a:sym typeface="Newsreader"/>
              </a:rPr>
              <a:t>Red is PAP, Blue is Opposition </a:t>
            </a:r>
            <a:endParaRPr sz="2000" i="0" u="none" strike="noStrike" cap="none">
              <a:solidFill>
                <a:schemeClr val="dk1"/>
              </a:solidFill>
              <a:latin typeface="Newsreader"/>
              <a:ea typeface="Newsreader"/>
              <a:cs typeface="Newsreader"/>
              <a:sym typeface="Newsreader"/>
            </a:endParaRPr>
          </a:p>
        </p:txBody>
      </p:sp>
      <p:pic>
        <p:nvPicPr>
          <p:cNvPr id="83" name="Google Shape;83;p6"/>
          <p:cNvPicPr preferRelativeResize="0"/>
          <p:nvPr/>
        </p:nvPicPr>
        <p:blipFill>
          <a:blip r:embed="rId3">
            <a:alphaModFix/>
          </a:blip>
          <a:stretch>
            <a:fillRect/>
          </a:stretch>
        </p:blipFill>
        <p:spPr>
          <a:xfrm>
            <a:off x="138225" y="588149"/>
            <a:ext cx="8720200" cy="43875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88"/>
        <p:cNvGrpSpPr/>
        <p:nvPr/>
      </p:nvGrpSpPr>
      <p:grpSpPr>
        <a:xfrm>
          <a:off x="0" y="0"/>
          <a:ext cx="0" cy="0"/>
          <a:chOff x="0" y="0"/>
          <a:chExt cx="0" cy="0"/>
        </a:xfrm>
      </p:grpSpPr>
      <p:sp>
        <p:nvSpPr>
          <p:cNvPr id="89" name="Google Shape;89;p7"/>
          <p:cNvSpPr/>
          <p:nvPr/>
        </p:nvSpPr>
        <p:spPr>
          <a:xfrm>
            <a:off x="0" y="0"/>
            <a:ext cx="9144000" cy="54864"/>
          </a:xfrm>
          <a:prstGeom prst="rect">
            <a:avLst/>
          </a:prstGeom>
          <a:solidFill>
            <a:srgbClr val="C9A84C"/>
          </a:solidFill>
          <a:ln w="12700" cap="flat" cmpd="sng">
            <a:solidFill>
              <a:srgbClr val="C9A8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a:off x="457200" y="161920"/>
            <a:ext cx="8229600" cy="868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400"/>
              <a:buFont typeface="Calibri"/>
              <a:buNone/>
            </a:pPr>
            <a:r>
              <a:rPr lang="en-US" sz="2000" b="1" i="0" u="none" strike="noStrike" cap="none">
                <a:solidFill>
                  <a:srgbClr val="1A1A2E"/>
                </a:solidFill>
                <a:latin typeface="Newsreader"/>
                <a:ea typeface="Newsreader"/>
                <a:cs typeface="Newsreader"/>
                <a:sym typeface="Newsreader"/>
              </a:rPr>
              <a:t>Potong Pasir wasn't lost in 2011.</a:t>
            </a:r>
            <a:endParaRPr sz="2000" i="0" u="none" strike="noStrike" cap="none">
              <a:solidFill>
                <a:schemeClr val="dk1"/>
              </a:solidFill>
              <a:latin typeface="Newsreader"/>
              <a:ea typeface="Newsreader"/>
              <a:cs typeface="Newsreader"/>
              <a:sym typeface="Newsreader"/>
            </a:endParaRPr>
          </a:p>
          <a:p>
            <a:pPr marL="0" marR="0" lvl="0" indent="0" algn="ctr" rtl="0">
              <a:spcBef>
                <a:spcPts val="0"/>
              </a:spcBef>
              <a:spcAft>
                <a:spcPts val="0"/>
              </a:spcAft>
              <a:buClr>
                <a:srgbClr val="1A1A2E"/>
              </a:buClr>
              <a:buSzPts val="2400"/>
              <a:buFont typeface="Calibri"/>
              <a:buNone/>
            </a:pPr>
            <a:r>
              <a:rPr lang="en-US" sz="2000" b="1" i="0" u="none" strike="noStrike" cap="none">
                <a:solidFill>
                  <a:srgbClr val="1A1A2E"/>
                </a:solidFill>
                <a:latin typeface="Newsreader"/>
                <a:ea typeface="Newsreader"/>
                <a:cs typeface="Newsreader"/>
                <a:sym typeface="Newsreader"/>
              </a:rPr>
              <a:t>It was carried by one man — and left with him.</a:t>
            </a:r>
            <a:endParaRPr sz="2000" i="0" u="none" strike="noStrike" cap="none">
              <a:solidFill>
                <a:schemeClr val="dk1"/>
              </a:solidFill>
              <a:latin typeface="Newsreader"/>
              <a:ea typeface="Newsreader"/>
              <a:cs typeface="Newsreader"/>
              <a:sym typeface="Newsreader"/>
            </a:endParaRPr>
          </a:p>
        </p:txBody>
      </p:sp>
      <p:sp>
        <p:nvSpPr>
          <p:cNvPr id="91" name="Google Shape;91;p7"/>
          <p:cNvSpPr/>
          <p:nvPr/>
        </p:nvSpPr>
        <p:spPr>
          <a:xfrm>
            <a:off x="5760720" y="1463040"/>
            <a:ext cx="3017520" cy="896112"/>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a:off x="5760720" y="1463040"/>
            <a:ext cx="64008" cy="896112"/>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5925300" y="1517929"/>
            <a:ext cx="22860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1" i="0" u="none" strike="noStrike" cap="none">
                <a:solidFill>
                  <a:srgbClr val="1A1A2E"/>
                </a:solidFill>
                <a:latin typeface="Newsreader"/>
                <a:ea typeface="Newsreader"/>
                <a:cs typeface="Newsreader"/>
                <a:sym typeface="Newsreader"/>
              </a:rPr>
              <a:t>No succession plan</a:t>
            </a:r>
            <a:endParaRPr sz="1100" i="0" u="none" strike="noStrike" cap="none">
              <a:solidFill>
                <a:schemeClr val="dk1"/>
              </a:solidFill>
              <a:latin typeface="Newsreader"/>
              <a:ea typeface="Newsreader"/>
              <a:cs typeface="Newsreader"/>
              <a:sym typeface="Newsreader"/>
            </a:endParaRPr>
          </a:p>
        </p:txBody>
      </p:sp>
      <p:sp>
        <p:nvSpPr>
          <p:cNvPr id="94" name="Google Shape;94;p7"/>
          <p:cNvSpPr/>
          <p:nvPr/>
        </p:nvSpPr>
        <p:spPr>
          <a:xfrm>
            <a:off x="5925312" y="1847088"/>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900"/>
              <a:buFont typeface="Calibri"/>
              <a:buNone/>
            </a:pPr>
            <a:r>
              <a:rPr lang="en-US" sz="900" i="1" u="none" strike="noStrike" cap="none">
                <a:solidFill>
                  <a:srgbClr val="4A4A5A"/>
                </a:solidFill>
                <a:latin typeface="Newsreader"/>
                <a:ea typeface="Newsreader"/>
                <a:cs typeface="Newsreader"/>
                <a:sym typeface="Newsreader"/>
              </a:rPr>
              <a:t>Chiam won 6 consecutive elections. When he left, his wife Lina contested with no independent political identity. PAP vote jumped from 50% to 66% in a single election.</a:t>
            </a:r>
            <a:endParaRPr sz="900" i="1" u="none" strike="noStrike" cap="none">
              <a:solidFill>
                <a:schemeClr val="dk1"/>
              </a:solidFill>
              <a:latin typeface="Newsreader"/>
              <a:ea typeface="Newsreader"/>
              <a:cs typeface="Newsreader"/>
              <a:sym typeface="Newsreader"/>
            </a:endParaRPr>
          </a:p>
        </p:txBody>
      </p:sp>
      <p:sp>
        <p:nvSpPr>
          <p:cNvPr id="95" name="Google Shape;95;p7"/>
          <p:cNvSpPr/>
          <p:nvPr/>
        </p:nvSpPr>
        <p:spPr>
          <a:xfrm>
            <a:off x="5760720" y="2450592"/>
            <a:ext cx="3017520" cy="896112"/>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7"/>
          <p:cNvSpPr/>
          <p:nvPr/>
        </p:nvSpPr>
        <p:spPr>
          <a:xfrm>
            <a:off x="5760720" y="2450592"/>
            <a:ext cx="64008" cy="896112"/>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a:off x="5925300" y="2505406"/>
            <a:ext cx="22860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1" i="0" u="none" strike="noStrike" cap="none">
                <a:solidFill>
                  <a:srgbClr val="1A1A2E"/>
                </a:solidFill>
                <a:latin typeface="Newsreader"/>
                <a:ea typeface="Newsreader"/>
                <a:cs typeface="Newsreader"/>
                <a:sym typeface="Newsreader"/>
              </a:rPr>
              <a:t>Health reduced ground presence</a:t>
            </a:r>
            <a:endParaRPr sz="1100" i="0" u="none" strike="noStrike" cap="none">
              <a:solidFill>
                <a:schemeClr val="dk1"/>
              </a:solidFill>
              <a:latin typeface="Newsreader"/>
              <a:ea typeface="Newsreader"/>
              <a:cs typeface="Newsreader"/>
              <a:sym typeface="Newsreader"/>
            </a:endParaRPr>
          </a:p>
        </p:txBody>
      </p:sp>
      <p:sp>
        <p:nvSpPr>
          <p:cNvPr id="98" name="Google Shape;98;p7"/>
          <p:cNvSpPr/>
          <p:nvPr/>
        </p:nvSpPr>
        <p:spPr>
          <a:xfrm>
            <a:off x="5925312" y="2834640"/>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900"/>
              <a:buFont typeface="Calibri"/>
              <a:buNone/>
            </a:pPr>
            <a:r>
              <a:rPr lang="en-US" sz="900" i="1" u="none" strike="noStrike" cap="none">
                <a:solidFill>
                  <a:srgbClr val="4A4A5A"/>
                </a:solidFill>
                <a:latin typeface="Newsreader"/>
                <a:ea typeface="Newsreader"/>
                <a:cs typeface="Newsreader"/>
                <a:sym typeface="Newsreader"/>
              </a:rPr>
              <a:t>A 2008 stroke suspended Chiam's weekly Meet-the-People sessions. In Singapore's political culture, constituency presence builds loyalty. </a:t>
            </a:r>
            <a:endParaRPr sz="900" i="1" u="none" strike="noStrike" cap="none">
              <a:solidFill>
                <a:schemeClr val="dk1"/>
              </a:solidFill>
              <a:latin typeface="Newsreader"/>
              <a:ea typeface="Newsreader"/>
              <a:cs typeface="Newsreader"/>
              <a:sym typeface="Newsreader"/>
            </a:endParaRPr>
          </a:p>
        </p:txBody>
      </p:sp>
      <p:sp>
        <p:nvSpPr>
          <p:cNvPr id="99" name="Google Shape;99;p7"/>
          <p:cNvSpPr/>
          <p:nvPr/>
        </p:nvSpPr>
        <p:spPr>
          <a:xfrm>
            <a:off x="5760720" y="3438144"/>
            <a:ext cx="3017520" cy="896112"/>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7"/>
          <p:cNvSpPr/>
          <p:nvPr/>
        </p:nvSpPr>
        <p:spPr>
          <a:xfrm>
            <a:off x="5760720" y="3438144"/>
            <a:ext cx="64008" cy="896112"/>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p:nvPr/>
        </p:nvSpPr>
        <p:spPr>
          <a:xfrm>
            <a:off x="5925300" y="3511308"/>
            <a:ext cx="22860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1">
                <a:solidFill>
                  <a:srgbClr val="1A1A2E"/>
                </a:solidFill>
                <a:latin typeface="Newsreader"/>
                <a:ea typeface="Newsreader"/>
                <a:cs typeface="Newsreader"/>
                <a:sym typeface="Newsreader"/>
              </a:rPr>
              <a:t>Chiam left, PAP won</a:t>
            </a:r>
            <a:endParaRPr sz="1100" i="0" u="none" strike="noStrike" cap="none">
              <a:solidFill>
                <a:schemeClr val="dk1"/>
              </a:solidFill>
              <a:latin typeface="Newsreader"/>
              <a:ea typeface="Newsreader"/>
              <a:cs typeface="Newsreader"/>
              <a:sym typeface="Newsreader"/>
            </a:endParaRPr>
          </a:p>
        </p:txBody>
      </p:sp>
      <p:sp>
        <p:nvSpPr>
          <p:cNvPr id="102" name="Google Shape;102;p7"/>
          <p:cNvSpPr/>
          <p:nvPr/>
        </p:nvSpPr>
        <p:spPr>
          <a:xfrm>
            <a:off x="5925312" y="3822192"/>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900"/>
              <a:buFont typeface="Calibri"/>
              <a:buNone/>
            </a:pPr>
            <a:r>
              <a:rPr lang="en-US" sz="900" i="1">
                <a:solidFill>
                  <a:srgbClr val="4A4A5A"/>
                </a:solidFill>
                <a:latin typeface="Newsreader"/>
                <a:ea typeface="Newsreader"/>
                <a:cs typeface="Newsreader"/>
                <a:sym typeface="Newsreader"/>
              </a:rPr>
              <a:t>In 2011, Chiam steps down and his wife contests in his place. PAP’s vote jumped from 50 to 66%. </a:t>
            </a:r>
            <a:endParaRPr sz="900" i="1" u="none" strike="noStrike" cap="none">
              <a:solidFill>
                <a:schemeClr val="dk1"/>
              </a:solidFill>
              <a:latin typeface="Newsreader"/>
              <a:ea typeface="Newsreader"/>
              <a:cs typeface="Newsreader"/>
              <a:sym typeface="Newsreader"/>
            </a:endParaRPr>
          </a:p>
        </p:txBody>
      </p:sp>
      <p:sp>
        <p:nvSpPr>
          <p:cNvPr id="103" name="Google Shape;103;p7"/>
          <p:cNvSpPr/>
          <p:nvPr/>
        </p:nvSpPr>
        <p:spPr>
          <a:xfrm>
            <a:off x="6993300" y="4809750"/>
            <a:ext cx="21507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9A84C"/>
              </a:buClr>
              <a:buSzPts val="1300"/>
              <a:buFont typeface="Calibri"/>
              <a:buNone/>
            </a:pPr>
            <a:r>
              <a:rPr lang="en-US" sz="700" i="1">
                <a:solidFill>
                  <a:schemeClr val="dk1"/>
                </a:solidFill>
                <a:latin typeface="Newsreader"/>
                <a:ea typeface="Newsreader"/>
                <a:cs typeface="Newsreader"/>
                <a:sym typeface="Newsreader"/>
              </a:rPr>
              <a:t>Source: Dataset + NLB Infopedia </a:t>
            </a:r>
            <a:r>
              <a:rPr lang="en-US" sz="700" i="1" u="sng">
                <a:solidFill>
                  <a:schemeClr val="dk1"/>
                </a:solidFill>
                <a:latin typeface="Newsreader"/>
                <a:ea typeface="Newsreader"/>
                <a:cs typeface="Newsreader"/>
                <a:sym typeface="Newsreader"/>
                <a:hlinkClick r:id="rId3">
                  <a:extLst>
                    <a:ext uri="{A12FA001-AC4F-418D-AE19-62706E023703}">
                      <ahyp:hlinkClr xmlns:ahyp="http://schemas.microsoft.com/office/drawing/2018/hyperlinkcolor" val="tx"/>
                    </a:ext>
                  </a:extLst>
                </a:hlinkClick>
              </a:rPr>
              <a:t>Chiam See Tong</a:t>
            </a:r>
            <a:r>
              <a:rPr lang="en-US" sz="700" i="1">
                <a:solidFill>
                  <a:schemeClr val="dk1"/>
                </a:solidFill>
                <a:latin typeface="Newsreader"/>
                <a:ea typeface="Newsreader"/>
                <a:cs typeface="Newsreader"/>
                <a:sym typeface="Newsreader"/>
              </a:rPr>
              <a:t> </a:t>
            </a:r>
            <a:endParaRPr sz="700" i="1" u="none" strike="noStrike" cap="none">
              <a:solidFill>
                <a:schemeClr val="dk1"/>
              </a:solidFill>
              <a:latin typeface="Newsreader"/>
              <a:ea typeface="Newsreader"/>
              <a:cs typeface="Newsreader"/>
              <a:sym typeface="Newsreader"/>
            </a:endParaRPr>
          </a:p>
        </p:txBody>
      </p:sp>
      <p:pic>
        <p:nvPicPr>
          <p:cNvPr id="104" name="Google Shape;104;p7"/>
          <p:cNvPicPr preferRelativeResize="0"/>
          <p:nvPr/>
        </p:nvPicPr>
        <p:blipFill>
          <a:blip r:embed="rId4">
            <a:alphaModFix/>
          </a:blip>
          <a:stretch>
            <a:fillRect/>
          </a:stretch>
        </p:blipFill>
        <p:spPr>
          <a:xfrm>
            <a:off x="138200" y="1158475"/>
            <a:ext cx="5432950" cy="3480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109"/>
        <p:cNvGrpSpPr/>
        <p:nvPr/>
      </p:nvGrpSpPr>
      <p:grpSpPr>
        <a:xfrm>
          <a:off x="0" y="0"/>
          <a:ext cx="0" cy="0"/>
          <a:chOff x="0" y="0"/>
          <a:chExt cx="0" cy="0"/>
        </a:xfrm>
      </p:grpSpPr>
      <p:sp>
        <p:nvSpPr>
          <p:cNvPr id="110" name="Google Shape;110;p8"/>
          <p:cNvSpPr/>
          <p:nvPr/>
        </p:nvSpPr>
        <p:spPr>
          <a:xfrm>
            <a:off x="0" y="0"/>
            <a:ext cx="9144000" cy="54864"/>
          </a:xfrm>
          <a:prstGeom prst="rect">
            <a:avLst/>
          </a:prstGeom>
          <a:solidFill>
            <a:srgbClr val="C9A84C"/>
          </a:solidFill>
          <a:ln w="12700" cap="flat" cmpd="sng">
            <a:solidFill>
              <a:srgbClr val="C9A8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457200" y="146295"/>
            <a:ext cx="8229600" cy="868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400"/>
              <a:buFont typeface="Calibri"/>
              <a:buNone/>
            </a:pPr>
            <a:r>
              <a:rPr lang="en-US" sz="2400" b="1">
                <a:solidFill>
                  <a:srgbClr val="1A1A2E"/>
                </a:solidFill>
                <a:latin typeface="Newsreader"/>
                <a:ea typeface="Newsreader"/>
                <a:cs typeface="Newsreader"/>
                <a:sym typeface="Newsreader"/>
              </a:rPr>
              <a:t>Hougang and Aljunied survived because WP built institutions, not just profiles</a:t>
            </a:r>
            <a:endParaRPr sz="2400" i="0" u="none" strike="noStrike" cap="none">
              <a:solidFill>
                <a:schemeClr val="dk1"/>
              </a:solidFill>
              <a:latin typeface="Newsreader"/>
              <a:ea typeface="Newsreader"/>
              <a:cs typeface="Newsreader"/>
              <a:sym typeface="Newsreader"/>
            </a:endParaRPr>
          </a:p>
        </p:txBody>
      </p:sp>
      <p:sp>
        <p:nvSpPr>
          <p:cNvPr id="112" name="Google Shape;112;p8"/>
          <p:cNvSpPr/>
          <p:nvPr/>
        </p:nvSpPr>
        <p:spPr>
          <a:xfrm>
            <a:off x="365760" y="4297680"/>
            <a:ext cx="2743200" cy="6858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8"/>
          <p:cNvSpPr/>
          <p:nvPr/>
        </p:nvSpPr>
        <p:spPr>
          <a:xfrm>
            <a:off x="365760" y="4297680"/>
            <a:ext cx="64008" cy="6858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a:off x="530338" y="4392150"/>
            <a:ext cx="2469000" cy="176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000"/>
              <a:buFont typeface="Calibri"/>
              <a:buNone/>
            </a:pPr>
            <a:r>
              <a:rPr lang="en-US" sz="1000" b="1" i="0" u="none" strike="noStrike" cap="none">
                <a:solidFill>
                  <a:srgbClr val="1A1A2E"/>
                </a:solidFill>
                <a:latin typeface="Newsreader"/>
                <a:ea typeface="Newsreader"/>
                <a:cs typeface="Newsreader"/>
                <a:sym typeface="Newsreader"/>
              </a:rPr>
              <a:t>Transferred loyalty</a:t>
            </a:r>
            <a:endParaRPr sz="1000" i="0" u="none" strike="noStrike" cap="none">
              <a:solidFill>
                <a:schemeClr val="dk1"/>
              </a:solidFill>
              <a:latin typeface="Newsreader"/>
              <a:ea typeface="Newsreader"/>
              <a:cs typeface="Newsreader"/>
              <a:sym typeface="Newsreader"/>
            </a:endParaRPr>
          </a:p>
        </p:txBody>
      </p:sp>
      <p:sp>
        <p:nvSpPr>
          <p:cNvPr id="115" name="Google Shape;115;p8"/>
          <p:cNvSpPr/>
          <p:nvPr/>
        </p:nvSpPr>
        <p:spPr>
          <a:xfrm>
            <a:off x="530352" y="4617720"/>
            <a:ext cx="2468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800"/>
              <a:buFont typeface="Calibri"/>
              <a:buNone/>
            </a:pPr>
            <a:r>
              <a:rPr lang="en-US" sz="800">
                <a:solidFill>
                  <a:srgbClr val="4A4A5A"/>
                </a:solidFill>
                <a:latin typeface="Newsreader"/>
                <a:ea typeface="Newsreader"/>
                <a:cs typeface="Newsreader"/>
                <a:sym typeface="Newsreader"/>
              </a:rPr>
              <a:t>Low showed up every week for 20 years. When he left, Hougang stayed blue. The community trusted the party — not just the man.</a:t>
            </a:r>
            <a:endParaRPr sz="800" i="0" u="none" strike="noStrike" cap="none">
              <a:solidFill>
                <a:schemeClr val="dk1"/>
              </a:solidFill>
              <a:latin typeface="Newsreader"/>
              <a:ea typeface="Newsreader"/>
              <a:cs typeface="Newsreader"/>
              <a:sym typeface="Newsreader"/>
            </a:endParaRPr>
          </a:p>
        </p:txBody>
      </p:sp>
      <p:sp>
        <p:nvSpPr>
          <p:cNvPr id="116" name="Google Shape;116;p8"/>
          <p:cNvSpPr/>
          <p:nvPr/>
        </p:nvSpPr>
        <p:spPr>
          <a:xfrm>
            <a:off x="3291840" y="4297680"/>
            <a:ext cx="2743200" cy="6858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a:off x="3291840" y="4297680"/>
            <a:ext cx="64008" cy="6858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a:off x="3456432" y="4352544"/>
            <a:ext cx="2469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000"/>
              <a:buFont typeface="Calibri"/>
              <a:buNone/>
            </a:pPr>
            <a:r>
              <a:rPr lang="en-US" sz="1000" b="1">
                <a:solidFill>
                  <a:schemeClr val="dk1"/>
                </a:solidFill>
                <a:latin typeface="Newsreader"/>
                <a:ea typeface="Newsreader"/>
                <a:cs typeface="Newsreader"/>
                <a:sym typeface="Newsreader"/>
              </a:rPr>
              <a:t>The breakthrough</a:t>
            </a:r>
            <a:endParaRPr sz="1000" b="1" i="0" u="none" strike="noStrike" cap="none">
              <a:solidFill>
                <a:schemeClr val="dk1"/>
              </a:solidFill>
              <a:latin typeface="Newsreader"/>
              <a:ea typeface="Newsreader"/>
              <a:cs typeface="Newsreader"/>
              <a:sym typeface="Newsreader"/>
            </a:endParaRPr>
          </a:p>
        </p:txBody>
      </p:sp>
      <p:sp>
        <p:nvSpPr>
          <p:cNvPr id="119" name="Google Shape;119;p8"/>
          <p:cNvSpPr/>
          <p:nvPr/>
        </p:nvSpPr>
        <p:spPr>
          <a:xfrm>
            <a:off x="3456432" y="4617720"/>
            <a:ext cx="2468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800"/>
              <a:buFont typeface="Calibri"/>
              <a:buNone/>
            </a:pPr>
            <a:r>
              <a:rPr lang="en-US" sz="800">
                <a:solidFill>
                  <a:schemeClr val="dk1"/>
                </a:solidFill>
                <a:latin typeface="Newsreader"/>
                <a:ea typeface="Newsreader"/>
                <a:cs typeface="Newsreader"/>
                <a:sym typeface="Newsreader"/>
              </a:rPr>
              <a:t>WP lost Aljunied in 2006. They came back anyway. Five years of showing up turned a defeat into a historic win.</a:t>
            </a:r>
            <a:endParaRPr sz="800" i="0" u="none" strike="noStrike" cap="none">
              <a:solidFill>
                <a:schemeClr val="dk1"/>
              </a:solidFill>
              <a:latin typeface="Newsreader"/>
              <a:ea typeface="Newsreader"/>
              <a:cs typeface="Newsreader"/>
              <a:sym typeface="Newsreader"/>
            </a:endParaRPr>
          </a:p>
        </p:txBody>
      </p:sp>
      <p:sp>
        <p:nvSpPr>
          <p:cNvPr id="120" name="Google Shape;120;p8"/>
          <p:cNvSpPr/>
          <p:nvPr/>
        </p:nvSpPr>
        <p:spPr>
          <a:xfrm>
            <a:off x="6217920" y="4297680"/>
            <a:ext cx="2743200" cy="6858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a:off x="6217920" y="4297680"/>
            <a:ext cx="64008" cy="6858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6382512" y="4352544"/>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000"/>
              <a:buFont typeface="Calibri"/>
              <a:buNone/>
            </a:pPr>
            <a:r>
              <a:rPr lang="en-US" sz="1000" b="1">
                <a:solidFill>
                  <a:schemeClr val="dk1"/>
                </a:solidFill>
                <a:latin typeface="Newsreader"/>
                <a:ea typeface="Newsreader"/>
                <a:cs typeface="Newsreader"/>
                <a:sym typeface="Newsreader"/>
              </a:rPr>
              <a:t>The proof</a:t>
            </a:r>
            <a:endParaRPr sz="1000" b="1" i="0" u="none" strike="noStrike" cap="none">
              <a:solidFill>
                <a:schemeClr val="dk1"/>
              </a:solidFill>
              <a:latin typeface="Newsreader"/>
              <a:ea typeface="Newsreader"/>
              <a:cs typeface="Newsreader"/>
              <a:sym typeface="Newsreader"/>
            </a:endParaRPr>
          </a:p>
        </p:txBody>
      </p:sp>
      <p:sp>
        <p:nvSpPr>
          <p:cNvPr id="123" name="Google Shape;123;p8"/>
          <p:cNvSpPr/>
          <p:nvPr/>
        </p:nvSpPr>
        <p:spPr>
          <a:xfrm>
            <a:off x="6382512" y="4617720"/>
            <a:ext cx="2468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800"/>
              <a:buFont typeface="Calibri"/>
              <a:buNone/>
            </a:pPr>
            <a:r>
              <a:rPr lang="en-US" sz="800">
                <a:solidFill>
                  <a:schemeClr val="dk1"/>
                </a:solidFill>
                <a:latin typeface="Newsreader"/>
                <a:ea typeface="Newsreader"/>
                <a:cs typeface="Newsreader"/>
                <a:sym typeface="Newsreader"/>
              </a:rPr>
              <a:t>After winning, WP got sued and lost access to community spaces. Their majority grew to 20 points anyway.</a:t>
            </a:r>
            <a:endParaRPr sz="800" i="0" u="none" strike="noStrike" cap="none">
              <a:solidFill>
                <a:schemeClr val="dk1"/>
              </a:solidFill>
              <a:latin typeface="Newsreader"/>
              <a:ea typeface="Newsreader"/>
              <a:cs typeface="Newsreader"/>
              <a:sym typeface="Newsreader"/>
            </a:endParaRPr>
          </a:p>
        </p:txBody>
      </p:sp>
      <p:pic>
        <p:nvPicPr>
          <p:cNvPr id="124" name="Google Shape;124;p8"/>
          <p:cNvPicPr preferRelativeResize="0"/>
          <p:nvPr/>
        </p:nvPicPr>
        <p:blipFill>
          <a:blip r:embed="rId3">
            <a:alphaModFix/>
          </a:blip>
          <a:stretch>
            <a:fillRect/>
          </a:stretch>
        </p:blipFill>
        <p:spPr>
          <a:xfrm>
            <a:off x="109775" y="1015095"/>
            <a:ext cx="4371686" cy="2977784"/>
          </a:xfrm>
          <a:prstGeom prst="rect">
            <a:avLst/>
          </a:prstGeom>
          <a:noFill/>
          <a:ln>
            <a:noFill/>
          </a:ln>
        </p:spPr>
      </p:pic>
      <p:pic>
        <p:nvPicPr>
          <p:cNvPr id="125" name="Google Shape;125;p8"/>
          <p:cNvPicPr preferRelativeResize="0"/>
          <p:nvPr/>
        </p:nvPicPr>
        <p:blipFill>
          <a:blip r:embed="rId4">
            <a:alphaModFix/>
          </a:blip>
          <a:stretch>
            <a:fillRect/>
          </a:stretch>
        </p:blipFill>
        <p:spPr>
          <a:xfrm>
            <a:off x="4595700" y="1015095"/>
            <a:ext cx="4365430" cy="29777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Shape 130"/>
        <p:cNvGrpSpPr/>
        <p:nvPr/>
      </p:nvGrpSpPr>
      <p:grpSpPr>
        <a:xfrm>
          <a:off x="0" y="0"/>
          <a:ext cx="0" cy="0"/>
          <a:chOff x="0" y="0"/>
          <a:chExt cx="0" cy="0"/>
        </a:xfrm>
      </p:grpSpPr>
      <p:sp>
        <p:nvSpPr>
          <p:cNvPr id="131" name="Google Shape;131;p9"/>
          <p:cNvSpPr/>
          <p:nvPr/>
        </p:nvSpPr>
        <p:spPr>
          <a:xfrm>
            <a:off x="0" y="0"/>
            <a:ext cx="9144000" cy="54864"/>
          </a:xfrm>
          <a:prstGeom prst="rect">
            <a:avLst/>
          </a:prstGeom>
          <a:solidFill>
            <a:srgbClr val="C9A84C"/>
          </a:solidFill>
          <a:ln w="12700" cap="flat" cmpd="sng">
            <a:solidFill>
              <a:srgbClr val="C9A8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a:off x="457200" y="204545"/>
            <a:ext cx="82296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1A2E"/>
              </a:buClr>
              <a:buSzPts val="2800"/>
              <a:buFont typeface="Calibri"/>
              <a:buNone/>
            </a:pPr>
            <a:r>
              <a:rPr lang="en-US" sz="2000" b="1" i="0" u="none" strike="noStrike" cap="none">
                <a:solidFill>
                  <a:srgbClr val="1A1A2E"/>
                </a:solidFill>
                <a:latin typeface="Newsreader"/>
                <a:ea typeface="Newsreader"/>
                <a:cs typeface="Newsreader"/>
                <a:sym typeface="Newsreader"/>
              </a:rPr>
              <a:t>WP has proven it can win.</a:t>
            </a:r>
            <a:endParaRPr sz="2000" i="0" u="none" strike="noStrike" cap="none">
              <a:solidFill>
                <a:schemeClr val="dk1"/>
              </a:solidFill>
              <a:latin typeface="Newsreader"/>
              <a:ea typeface="Newsreader"/>
              <a:cs typeface="Newsreader"/>
              <a:sym typeface="Newsreader"/>
            </a:endParaRPr>
          </a:p>
          <a:p>
            <a:pPr marL="0" marR="0" lvl="0" indent="0" algn="ctr" rtl="0">
              <a:spcBef>
                <a:spcPts val="0"/>
              </a:spcBef>
              <a:spcAft>
                <a:spcPts val="0"/>
              </a:spcAft>
              <a:buClr>
                <a:srgbClr val="1A1A2E"/>
              </a:buClr>
              <a:buSzPts val="2800"/>
              <a:buFont typeface="Calibri"/>
              <a:buNone/>
            </a:pPr>
            <a:r>
              <a:rPr lang="en-US" sz="2000" b="1" i="0" u="none" strike="noStrike" cap="none">
                <a:solidFill>
                  <a:srgbClr val="1A1A2E"/>
                </a:solidFill>
                <a:latin typeface="Newsreader"/>
                <a:ea typeface="Newsreader"/>
                <a:cs typeface="Newsreader"/>
                <a:sym typeface="Newsreader"/>
              </a:rPr>
              <a:t>The question is whether it can scale.</a:t>
            </a:r>
            <a:endParaRPr sz="2000" i="0" u="none" strike="noStrike" cap="none">
              <a:solidFill>
                <a:schemeClr val="dk1"/>
              </a:solidFill>
              <a:latin typeface="Newsreader"/>
              <a:ea typeface="Newsreader"/>
              <a:cs typeface="Newsreader"/>
              <a:sym typeface="Newsreader"/>
            </a:endParaRPr>
          </a:p>
        </p:txBody>
      </p:sp>
      <p:sp>
        <p:nvSpPr>
          <p:cNvPr id="133" name="Google Shape;133;p9"/>
          <p:cNvSpPr/>
          <p:nvPr/>
        </p:nvSpPr>
        <p:spPr>
          <a:xfrm>
            <a:off x="365760" y="1572768"/>
            <a:ext cx="4160520" cy="13716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a:off x="365760" y="1572768"/>
            <a:ext cx="64008" cy="13716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9"/>
          <p:cNvSpPr/>
          <p:nvPr/>
        </p:nvSpPr>
        <p:spPr>
          <a:xfrm>
            <a:off x="548640" y="1664208"/>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300"/>
              <a:buFont typeface="Calibri"/>
              <a:buNone/>
            </a:pPr>
            <a:r>
              <a:rPr lang="en-US" sz="1300" b="1" i="0" u="none" strike="noStrike" cap="none">
                <a:solidFill>
                  <a:srgbClr val="1A1A2E"/>
                </a:solidFill>
                <a:latin typeface="Newsreader"/>
                <a:ea typeface="Newsreader"/>
                <a:cs typeface="Newsreader"/>
                <a:sym typeface="Newsreader"/>
              </a:rPr>
              <a:t>The votes are real</a:t>
            </a:r>
            <a:endParaRPr sz="1300" i="0" u="none" strike="noStrike" cap="none">
              <a:solidFill>
                <a:schemeClr val="dk1"/>
              </a:solidFill>
              <a:latin typeface="Newsreader"/>
              <a:ea typeface="Newsreader"/>
              <a:cs typeface="Newsreader"/>
              <a:sym typeface="Newsreader"/>
            </a:endParaRPr>
          </a:p>
        </p:txBody>
      </p:sp>
      <p:sp>
        <p:nvSpPr>
          <p:cNvPr id="136" name="Google Shape;136;p9"/>
          <p:cNvSpPr/>
          <p:nvPr/>
        </p:nvSpPr>
        <p:spPr>
          <a:xfrm>
            <a:off x="548640" y="2048256"/>
            <a:ext cx="384048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100"/>
              <a:buFont typeface="Calibri"/>
              <a:buNone/>
            </a:pPr>
            <a:r>
              <a:rPr lang="en-US" sz="1100" i="0" u="none" strike="noStrike" cap="none">
                <a:solidFill>
                  <a:srgbClr val="4A4A5A"/>
                </a:solidFill>
                <a:latin typeface="Newsreader"/>
                <a:ea typeface="Newsreader"/>
                <a:cs typeface="Newsreader"/>
                <a:sym typeface="Newsreader"/>
              </a:rPr>
              <a:t>PAP's vote share has fallen in 6 of 9 elections since 1984. Opposition support is a sustained trend, not a protest.</a:t>
            </a:r>
            <a:endParaRPr sz="1100" i="0" u="none" strike="noStrike" cap="none">
              <a:solidFill>
                <a:schemeClr val="dk1"/>
              </a:solidFill>
              <a:latin typeface="Newsreader"/>
              <a:ea typeface="Newsreader"/>
              <a:cs typeface="Newsreader"/>
              <a:sym typeface="Newsreader"/>
            </a:endParaRPr>
          </a:p>
        </p:txBody>
      </p:sp>
      <p:sp>
        <p:nvSpPr>
          <p:cNvPr id="137" name="Google Shape;137;p9"/>
          <p:cNvSpPr/>
          <p:nvPr/>
        </p:nvSpPr>
        <p:spPr>
          <a:xfrm>
            <a:off x="4800600" y="1572768"/>
            <a:ext cx="4160520" cy="13716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a:off x="4800600" y="1572768"/>
            <a:ext cx="64008" cy="13716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p:nvPr/>
        </p:nvSpPr>
        <p:spPr>
          <a:xfrm>
            <a:off x="4983480" y="1664208"/>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300"/>
              <a:buFont typeface="Calibri"/>
              <a:buNone/>
            </a:pPr>
            <a:r>
              <a:rPr lang="en-US" sz="1300" b="1" i="0" u="none" strike="noStrike" cap="none">
                <a:solidFill>
                  <a:srgbClr val="1A1A2E"/>
                </a:solidFill>
                <a:latin typeface="Newsreader"/>
                <a:ea typeface="Newsreader"/>
                <a:cs typeface="Newsreader"/>
                <a:sym typeface="Newsreader"/>
              </a:rPr>
              <a:t>Quality over quantity</a:t>
            </a:r>
            <a:endParaRPr sz="1300" i="0" u="none" strike="noStrike" cap="none">
              <a:solidFill>
                <a:schemeClr val="dk1"/>
              </a:solidFill>
              <a:latin typeface="Newsreader"/>
              <a:ea typeface="Newsreader"/>
              <a:cs typeface="Newsreader"/>
              <a:sym typeface="Newsreader"/>
            </a:endParaRPr>
          </a:p>
        </p:txBody>
      </p:sp>
      <p:sp>
        <p:nvSpPr>
          <p:cNvPr id="140" name="Google Shape;140;p9"/>
          <p:cNvSpPr/>
          <p:nvPr/>
        </p:nvSpPr>
        <p:spPr>
          <a:xfrm>
            <a:off x="4983480" y="2048256"/>
            <a:ext cx="384048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100"/>
              <a:buFont typeface="Calibri"/>
              <a:buNone/>
            </a:pPr>
            <a:r>
              <a:rPr lang="en-US" sz="1100" i="0" u="none" strike="noStrike" cap="none">
                <a:solidFill>
                  <a:srgbClr val="4A4A5A"/>
                </a:solidFill>
                <a:latin typeface="Newsreader"/>
                <a:ea typeface="Newsreader"/>
                <a:cs typeface="Newsreader"/>
                <a:sym typeface="Newsreader"/>
              </a:rPr>
              <a:t>WP contests fewer seats than in 1972 but wins more than half of every vote cast against it in those seats.</a:t>
            </a:r>
            <a:endParaRPr sz="1100" i="0" u="none" strike="noStrike" cap="none">
              <a:solidFill>
                <a:schemeClr val="dk1"/>
              </a:solidFill>
              <a:latin typeface="Newsreader"/>
              <a:ea typeface="Newsreader"/>
              <a:cs typeface="Newsreader"/>
              <a:sym typeface="Newsreader"/>
            </a:endParaRPr>
          </a:p>
        </p:txBody>
      </p:sp>
      <p:sp>
        <p:nvSpPr>
          <p:cNvPr id="141" name="Google Shape;141;p9"/>
          <p:cNvSpPr/>
          <p:nvPr/>
        </p:nvSpPr>
        <p:spPr>
          <a:xfrm>
            <a:off x="365760" y="3081528"/>
            <a:ext cx="4160520" cy="13716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9"/>
          <p:cNvSpPr/>
          <p:nvPr/>
        </p:nvSpPr>
        <p:spPr>
          <a:xfrm>
            <a:off x="365760" y="3081528"/>
            <a:ext cx="64008" cy="1371600"/>
          </a:xfrm>
          <a:prstGeom prst="rect">
            <a:avLst/>
          </a:prstGeom>
          <a:solidFill>
            <a:srgbClr val="C9A84C"/>
          </a:solidFill>
          <a:ln w="12700" cap="flat" cmpd="sng">
            <a:solidFill>
              <a:srgbClr val="C9A8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9"/>
          <p:cNvSpPr/>
          <p:nvPr/>
        </p:nvSpPr>
        <p:spPr>
          <a:xfrm>
            <a:off x="548640" y="3172968"/>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300"/>
              <a:buFont typeface="Calibri"/>
              <a:buNone/>
            </a:pPr>
            <a:r>
              <a:rPr lang="en-US" sz="1300" b="1" i="0" u="none" strike="noStrike" cap="none">
                <a:solidFill>
                  <a:srgbClr val="1A1A2E"/>
                </a:solidFill>
                <a:latin typeface="Newsreader"/>
                <a:ea typeface="Newsreader"/>
                <a:cs typeface="Newsreader"/>
                <a:sym typeface="Newsreader"/>
              </a:rPr>
              <a:t>The barrier is structural</a:t>
            </a:r>
            <a:endParaRPr sz="1300" i="0" u="none" strike="noStrike" cap="none">
              <a:solidFill>
                <a:schemeClr val="dk1"/>
              </a:solidFill>
              <a:latin typeface="Newsreader"/>
              <a:ea typeface="Newsreader"/>
              <a:cs typeface="Newsreader"/>
              <a:sym typeface="Newsreader"/>
            </a:endParaRPr>
          </a:p>
        </p:txBody>
      </p:sp>
      <p:sp>
        <p:nvSpPr>
          <p:cNvPr id="144" name="Google Shape;144;p9"/>
          <p:cNvSpPr/>
          <p:nvPr/>
        </p:nvSpPr>
        <p:spPr>
          <a:xfrm>
            <a:off x="548640" y="3557016"/>
            <a:ext cx="384048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100"/>
              <a:buFont typeface="Calibri"/>
              <a:buNone/>
            </a:pPr>
            <a:r>
              <a:rPr lang="en-US" sz="1100" i="0" u="none" strike="noStrike" cap="none">
                <a:solidFill>
                  <a:srgbClr val="4A4A5A"/>
                </a:solidFill>
                <a:latin typeface="Newsreader"/>
                <a:ea typeface="Newsreader"/>
                <a:cs typeface="Newsreader"/>
                <a:sym typeface="Newsreader"/>
              </a:rPr>
              <a:t>The GRC system's real cost is fielding teams — not winning votes. PAP and WP average near-identical shares where WP competes.</a:t>
            </a:r>
            <a:endParaRPr sz="1100" i="0" u="none" strike="noStrike" cap="none">
              <a:solidFill>
                <a:schemeClr val="dk1"/>
              </a:solidFill>
              <a:latin typeface="Newsreader"/>
              <a:ea typeface="Newsreader"/>
              <a:cs typeface="Newsreader"/>
              <a:sym typeface="Newsreader"/>
            </a:endParaRPr>
          </a:p>
        </p:txBody>
      </p:sp>
      <p:sp>
        <p:nvSpPr>
          <p:cNvPr id="145" name="Google Shape;145;p9"/>
          <p:cNvSpPr/>
          <p:nvPr/>
        </p:nvSpPr>
        <p:spPr>
          <a:xfrm>
            <a:off x="4800600" y="3081528"/>
            <a:ext cx="4160520" cy="1371600"/>
          </a:xfrm>
          <a:prstGeom prst="rect">
            <a:avLst/>
          </a:prstGeom>
          <a:solidFill>
            <a:srgbClr val="FFFFFF"/>
          </a:solidFill>
          <a:ln w="12700" cap="flat" cmpd="sng">
            <a:solidFill>
              <a:srgbClr val="DDDDEE"/>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9"/>
          <p:cNvSpPr/>
          <p:nvPr/>
        </p:nvSpPr>
        <p:spPr>
          <a:xfrm>
            <a:off x="4800600" y="3081528"/>
            <a:ext cx="64008" cy="13716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9"/>
          <p:cNvSpPr/>
          <p:nvPr/>
        </p:nvSpPr>
        <p:spPr>
          <a:xfrm>
            <a:off x="4983480" y="3172968"/>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300"/>
              <a:buFont typeface="Calibri"/>
              <a:buNone/>
            </a:pPr>
            <a:r>
              <a:rPr lang="en-US" sz="1300" b="1" i="0" u="none" strike="noStrike" cap="none">
                <a:solidFill>
                  <a:srgbClr val="1A1A2E"/>
                </a:solidFill>
                <a:latin typeface="Newsreader"/>
                <a:ea typeface="Newsreader"/>
                <a:cs typeface="Newsreader"/>
                <a:sym typeface="Newsreader"/>
              </a:rPr>
              <a:t>Institutions outlast individuals</a:t>
            </a:r>
            <a:endParaRPr sz="1300" i="0" u="none" strike="noStrike" cap="none">
              <a:solidFill>
                <a:schemeClr val="dk1"/>
              </a:solidFill>
              <a:latin typeface="Newsreader"/>
              <a:ea typeface="Newsreader"/>
              <a:cs typeface="Newsreader"/>
              <a:sym typeface="Newsreader"/>
            </a:endParaRPr>
          </a:p>
        </p:txBody>
      </p:sp>
      <p:sp>
        <p:nvSpPr>
          <p:cNvPr id="148" name="Google Shape;148;p9"/>
          <p:cNvSpPr/>
          <p:nvPr/>
        </p:nvSpPr>
        <p:spPr>
          <a:xfrm>
            <a:off x="4983480" y="3557016"/>
            <a:ext cx="384048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4A5A"/>
              </a:buClr>
              <a:buSzPts val="1100"/>
              <a:buFont typeface="Calibri"/>
              <a:buNone/>
            </a:pPr>
            <a:r>
              <a:rPr lang="en-US" sz="1100" i="0" u="none" strike="noStrike" cap="none">
                <a:solidFill>
                  <a:srgbClr val="4A4A5A"/>
                </a:solidFill>
                <a:latin typeface="Newsreader"/>
                <a:ea typeface="Newsreader"/>
                <a:cs typeface="Newsreader"/>
                <a:sym typeface="Newsreader"/>
              </a:rPr>
              <a:t>Potong Pasir fell when Chiam left. Hougang and Aljunied survived leadership changes because WP built ground presence over decades.</a:t>
            </a:r>
            <a:endParaRPr sz="1100" i="0" u="none" strike="noStrike" cap="none">
              <a:solidFill>
                <a:schemeClr val="dk1"/>
              </a:solidFill>
              <a:latin typeface="Newsreader"/>
              <a:ea typeface="Newsreader"/>
              <a:cs typeface="Newsreader"/>
              <a:sym typeface="Newsreader"/>
            </a:endParaRPr>
          </a:p>
        </p:txBody>
      </p:sp>
      <p:sp>
        <p:nvSpPr>
          <p:cNvPr id="149" name="Google Shape;149;p9"/>
          <p:cNvSpPr/>
          <p:nvPr/>
        </p:nvSpPr>
        <p:spPr>
          <a:xfrm>
            <a:off x="365760" y="4846320"/>
            <a:ext cx="8412480" cy="2011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8888"/>
              </a:buClr>
              <a:buSzPts val="800"/>
              <a:buFont typeface="Calibri"/>
              <a:buNone/>
            </a:pPr>
            <a:r>
              <a:rPr lang="en-US" sz="800" b="0" i="0" u="none" strike="noStrike" cap="none">
                <a:solidFill>
                  <a:srgbClr val="888888"/>
                </a:solidFill>
                <a:latin typeface="Calibri"/>
                <a:ea typeface="Calibri"/>
                <a:cs typeface="Calibri"/>
                <a:sym typeface="Calibri"/>
              </a:rPr>
              <a:t>Source: dataset</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4"/>
        <p:cNvGrpSpPr/>
        <p:nvPr/>
      </p:nvGrpSpPr>
      <p:grpSpPr>
        <a:xfrm>
          <a:off x="0" y="0"/>
          <a:ext cx="0" cy="0"/>
          <a:chOff x="0" y="0"/>
          <a:chExt cx="0" cy="0"/>
        </a:xfrm>
      </p:grpSpPr>
      <p:sp>
        <p:nvSpPr>
          <p:cNvPr id="155" name="Google Shape;155;p10"/>
          <p:cNvSpPr/>
          <p:nvPr/>
        </p:nvSpPr>
        <p:spPr>
          <a:xfrm>
            <a:off x="0" y="0"/>
            <a:ext cx="9144000" cy="54864"/>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0"/>
          <p:cNvSpPr/>
          <p:nvPr/>
        </p:nvSpPr>
        <p:spPr>
          <a:xfrm>
            <a:off x="457200" y="218745"/>
            <a:ext cx="8229600" cy="594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800"/>
              <a:buFont typeface="Calibri"/>
              <a:buNone/>
            </a:pPr>
            <a:r>
              <a:rPr lang="en-US" sz="2000" b="1">
                <a:solidFill>
                  <a:schemeClr val="dk1"/>
                </a:solidFill>
                <a:latin typeface="Newsreader"/>
                <a:ea typeface="Newsreader"/>
                <a:cs typeface="Newsreader"/>
                <a:sym typeface="Newsreader"/>
              </a:rPr>
              <a:t>Focus on the 3 strongholds </a:t>
            </a:r>
            <a:endParaRPr sz="2000" b="1" i="0" u="none" strike="noStrike" cap="none">
              <a:solidFill>
                <a:schemeClr val="dk1"/>
              </a:solidFill>
              <a:latin typeface="Newsreader"/>
              <a:ea typeface="Newsreader"/>
              <a:cs typeface="Newsreader"/>
              <a:sym typeface="Newsreader"/>
            </a:endParaRPr>
          </a:p>
        </p:txBody>
      </p:sp>
      <p:sp>
        <p:nvSpPr>
          <p:cNvPr id="157" name="Google Shape;157;p10"/>
          <p:cNvSpPr/>
          <p:nvPr/>
        </p:nvSpPr>
        <p:spPr>
          <a:xfrm>
            <a:off x="5669280" y="1234440"/>
            <a:ext cx="3108960" cy="1024128"/>
          </a:xfrm>
          <a:prstGeom prst="rect">
            <a:avLst/>
          </a:prstGeom>
          <a:solidFill>
            <a:schemeClr val="lt2"/>
          </a:solidFill>
          <a:ln w="12700" cap="flat" cmpd="sng">
            <a:solidFill>
              <a:srgbClr val="3333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0"/>
          <p:cNvSpPr/>
          <p:nvPr/>
        </p:nvSpPr>
        <p:spPr>
          <a:xfrm>
            <a:off x="5669280" y="1234440"/>
            <a:ext cx="64008" cy="1024128"/>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0"/>
          <p:cNvSpPr/>
          <p:nvPr/>
        </p:nvSpPr>
        <p:spPr>
          <a:xfrm>
            <a:off x="5833872" y="1325880"/>
            <a:ext cx="2834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i="0" u="none" strike="noStrike" cap="none">
                <a:solidFill>
                  <a:schemeClr val="dk1"/>
                </a:solidFill>
                <a:latin typeface="Newsreader SemiBold"/>
                <a:ea typeface="Newsreader SemiBold"/>
                <a:cs typeface="Newsreader SemiBold"/>
                <a:sym typeface="Newsreader SemiBold"/>
              </a:rPr>
              <a:t>Why 70%?</a:t>
            </a:r>
            <a:endParaRPr sz="1100" i="0" u="none" strike="noStrike" cap="none">
              <a:solidFill>
                <a:schemeClr val="dk1"/>
              </a:solidFill>
              <a:latin typeface="Newsreader SemiBold"/>
              <a:ea typeface="Newsreader SemiBold"/>
              <a:cs typeface="Newsreader SemiBold"/>
              <a:sym typeface="Newsreader SemiBold"/>
            </a:endParaRPr>
          </a:p>
        </p:txBody>
      </p:sp>
      <p:sp>
        <p:nvSpPr>
          <p:cNvPr id="160" name="Google Shape;160;p10"/>
          <p:cNvSpPr/>
          <p:nvPr/>
        </p:nvSpPr>
        <p:spPr>
          <a:xfrm>
            <a:off x="5833872" y="1655064"/>
            <a:ext cx="28346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AAACC"/>
              </a:buClr>
              <a:buSzPts val="900"/>
              <a:buFont typeface="Calibri"/>
              <a:buNone/>
            </a:pPr>
            <a:r>
              <a:rPr lang="en-US" sz="900" i="0" u="none" strike="noStrike" cap="none">
                <a:solidFill>
                  <a:srgbClr val="888888"/>
                </a:solidFill>
                <a:latin typeface="Newsreader"/>
                <a:ea typeface="Newsreader"/>
                <a:cs typeface="Newsreader"/>
                <a:sym typeface="Newsreader"/>
              </a:rPr>
              <a:t>Hougang and Aljunied data show that </a:t>
            </a:r>
            <a:r>
              <a:rPr lang="en-US" sz="900">
                <a:solidFill>
                  <a:srgbClr val="888888"/>
                </a:solidFill>
                <a:latin typeface="Newsreader"/>
                <a:ea typeface="Newsreader"/>
                <a:cs typeface="Newsreader"/>
                <a:sym typeface="Newsreader"/>
              </a:rPr>
              <a:t>past</a:t>
            </a:r>
            <a:r>
              <a:rPr lang="en-US" sz="900" i="0" u="none" strike="noStrike" cap="none">
                <a:solidFill>
                  <a:srgbClr val="888888"/>
                </a:solidFill>
                <a:latin typeface="Newsreader"/>
                <a:ea typeface="Newsreader"/>
                <a:cs typeface="Newsreader"/>
                <a:sym typeface="Newsreader"/>
              </a:rPr>
              <a:t> 60%, PAP recovery becomes</a:t>
            </a:r>
            <a:r>
              <a:rPr lang="en-US" sz="900">
                <a:solidFill>
                  <a:srgbClr val="888888"/>
                </a:solidFill>
                <a:latin typeface="Newsreader"/>
                <a:ea typeface="Newsreader"/>
                <a:cs typeface="Newsreader"/>
                <a:sym typeface="Newsreader"/>
              </a:rPr>
              <a:t> </a:t>
            </a:r>
            <a:r>
              <a:rPr lang="en-US" sz="900" i="0" u="none" strike="noStrike" cap="none">
                <a:solidFill>
                  <a:srgbClr val="888888"/>
                </a:solidFill>
                <a:latin typeface="Newsreader"/>
                <a:ea typeface="Newsreader"/>
                <a:cs typeface="Newsreader"/>
                <a:sym typeface="Newsreader"/>
              </a:rPr>
              <a:t>difficult. </a:t>
            </a:r>
            <a:r>
              <a:rPr lang="en-US" sz="900" i="0" u="none" strike="noStrike" cap="none">
                <a:solidFill>
                  <a:srgbClr val="C9A84C"/>
                </a:solidFill>
                <a:latin typeface="Newsreader"/>
                <a:ea typeface="Newsreader"/>
                <a:cs typeface="Newsreader"/>
                <a:sym typeface="Newsreader"/>
              </a:rPr>
              <a:t>70%</a:t>
            </a:r>
            <a:r>
              <a:rPr lang="en-US" sz="900" i="0" u="none" strike="noStrike" cap="none">
                <a:solidFill>
                  <a:srgbClr val="888888"/>
                </a:solidFill>
                <a:latin typeface="Newsreader"/>
                <a:ea typeface="Newsreader"/>
                <a:cs typeface="Newsreader"/>
                <a:sym typeface="Newsreader"/>
              </a:rPr>
              <a:t> creates a</a:t>
            </a:r>
            <a:r>
              <a:rPr lang="en-US" sz="900">
                <a:solidFill>
                  <a:srgbClr val="888888"/>
                </a:solidFill>
                <a:latin typeface="Newsreader"/>
                <a:ea typeface="Newsreader"/>
                <a:cs typeface="Newsreader"/>
                <a:sym typeface="Newsreader"/>
              </a:rPr>
              <a:t> </a:t>
            </a:r>
            <a:r>
              <a:rPr lang="en-US" sz="900" i="0" u="none" strike="noStrike" cap="none">
                <a:solidFill>
                  <a:srgbClr val="888888"/>
                </a:solidFill>
                <a:latin typeface="Newsreader"/>
                <a:ea typeface="Newsreader"/>
                <a:cs typeface="Newsreader"/>
                <a:sym typeface="Newsreader"/>
              </a:rPr>
              <a:t> buffer that survives leadership transitions.</a:t>
            </a:r>
            <a:endParaRPr sz="900" i="0" u="none" strike="noStrike" cap="none">
              <a:solidFill>
                <a:srgbClr val="888888"/>
              </a:solidFill>
              <a:latin typeface="Newsreader"/>
              <a:ea typeface="Newsreader"/>
              <a:cs typeface="Newsreader"/>
              <a:sym typeface="Newsreader"/>
            </a:endParaRPr>
          </a:p>
        </p:txBody>
      </p:sp>
      <p:sp>
        <p:nvSpPr>
          <p:cNvPr id="161" name="Google Shape;161;p10"/>
          <p:cNvSpPr/>
          <p:nvPr/>
        </p:nvSpPr>
        <p:spPr>
          <a:xfrm>
            <a:off x="5669280" y="2377440"/>
            <a:ext cx="3108960" cy="1024128"/>
          </a:xfrm>
          <a:prstGeom prst="rect">
            <a:avLst/>
          </a:prstGeom>
          <a:solidFill>
            <a:schemeClr val="lt2"/>
          </a:solidFill>
          <a:ln w="12700" cap="flat" cmpd="sng">
            <a:solidFill>
              <a:srgbClr val="3333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0"/>
          <p:cNvSpPr/>
          <p:nvPr/>
        </p:nvSpPr>
        <p:spPr>
          <a:xfrm>
            <a:off x="5669280" y="2377440"/>
            <a:ext cx="64008" cy="1024128"/>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0"/>
          <p:cNvSpPr/>
          <p:nvPr/>
        </p:nvSpPr>
        <p:spPr>
          <a:xfrm>
            <a:off x="5833872" y="2468880"/>
            <a:ext cx="2834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i="0" u="none" strike="noStrike" cap="none">
                <a:solidFill>
                  <a:schemeClr val="dk1"/>
                </a:solidFill>
                <a:latin typeface="Newsreader SemiBold"/>
                <a:ea typeface="Newsreader SemiBold"/>
                <a:cs typeface="Newsreader SemiBold"/>
                <a:sym typeface="Newsreader SemiBold"/>
              </a:rPr>
              <a:t>Sengkang is vulnerable</a:t>
            </a:r>
            <a:endParaRPr sz="1100" i="0" u="none" strike="noStrike" cap="none">
              <a:solidFill>
                <a:schemeClr val="dk1"/>
              </a:solidFill>
              <a:latin typeface="Newsreader SemiBold"/>
              <a:ea typeface="Newsreader SemiBold"/>
              <a:cs typeface="Newsreader SemiBold"/>
              <a:sym typeface="Newsreader SemiBold"/>
            </a:endParaRPr>
          </a:p>
        </p:txBody>
      </p:sp>
      <p:sp>
        <p:nvSpPr>
          <p:cNvPr id="164" name="Google Shape;164;p10"/>
          <p:cNvSpPr/>
          <p:nvPr/>
        </p:nvSpPr>
        <p:spPr>
          <a:xfrm>
            <a:off x="5833872" y="2798064"/>
            <a:ext cx="28346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AAACC"/>
              </a:buClr>
              <a:buSzPts val="900"/>
              <a:buFont typeface="Calibri"/>
              <a:buNone/>
            </a:pPr>
            <a:r>
              <a:rPr lang="en-US" sz="900" i="0" u="none" strike="noStrike" cap="none">
                <a:solidFill>
                  <a:srgbClr val="888888"/>
                </a:solidFill>
                <a:latin typeface="Newsreader"/>
                <a:ea typeface="Newsreader"/>
                <a:cs typeface="Newsreader"/>
                <a:sym typeface="Newsreader"/>
              </a:rPr>
              <a:t>Won in 2020 at 52.1% — the narrowest WP margin of any current seat. Without deeper ground investment, a strong PAP push in the next election could reclaim it.</a:t>
            </a:r>
            <a:endParaRPr sz="900" i="0" u="none" strike="noStrike" cap="none">
              <a:solidFill>
                <a:srgbClr val="888888"/>
              </a:solidFill>
              <a:latin typeface="Newsreader"/>
              <a:ea typeface="Newsreader"/>
              <a:cs typeface="Newsreader"/>
              <a:sym typeface="Newsreader"/>
            </a:endParaRPr>
          </a:p>
        </p:txBody>
      </p:sp>
      <p:sp>
        <p:nvSpPr>
          <p:cNvPr id="165" name="Google Shape;165;p10"/>
          <p:cNvSpPr/>
          <p:nvPr/>
        </p:nvSpPr>
        <p:spPr>
          <a:xfrm>
            <a:off x="5669280" y="3520440"/>
            <a:ext cx="3108960" cy="1024128"/>
          </a:xfrm>
          <a:prstGeom prst="rect">
            <a:avLst/>
          </a:prstGeom>
          <a:solidFill>
            <a:schemeClr val="lt2"/>
          </a:solidFill>
          <a:ln w="12700" cap="flat" cmpd="sng">
            <a:solidFill>
              <a:srgbClr val="3333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0"/>
          <p:cNvSpPr/>
          <p:nvPr/>
        </p:nvSpPr>
        <p:spPr>
          <a:xfrm>
            <a:off x="5669280" y="3520440"/>
            <a:ext cx="64008" cy="1024128"/>
          </a:xfrm>
          <a:prstGeom prst="rect">
            <a:avLst/>
          </a:prstGeom>
          <a:solidFill>
            <a:srgbClr val="2D79E0"/>
          </a:solidFill>
          <a:ln w="12700" cap="flat" cmpd="sng">
            <a:solidFill>
              <a:srgbClr val="C9A8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5833872" y="3611880"/>
            <a:ext cx="2834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i="0" u="none" strike="noStrike" cap="none">
                <a:solidFill>
                  <a:schemeClr val="dk1"/>
                </a:solidFill>
                <a:latin typeface="Newsreader SemiBold"/>
                <a:ea typeface="Newsreader SemiBold"/>
                <a:cs typeface="Newsreader SemiBold"/>
                <a:sym typeface="Newsreader SemiBold"/>
              </a:rPr>
              <a:t>Consolidation frees resources</a:t>
            </a:r>
            <a:endParaRPr sz="1100" i="0" u="none" strike="noStrike" cap="none">
              <a:solidFill>
                <a:schemeClr val="dk1"/>
              </a:solidFill>
              <a:latin typeface="Newsreader SemiBold"/>
              <a:ea typeface="Newsreader SemiBold"/>
              <a:cs typeface="Newsreader SemiBold"/>
              <a:sym typeface="Newsreader SemiBold"/>
            </a:endParaRPr>
          </a:p>
        </p:txBody>
      </p:sp>
      <p:sp>
        <p:nvSpPr>
          <p:cNvPr id="168" name="Google Shape;168;p10"/>
          <p:cNvSpPr/>
          <p:nvPr/>
        </p:nvSpPr>
        <p:spPr>
          <a:xfrm>
            <a:off x="5833872" y="3941064"/>
            <a:ext cx="28346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AAACC"/>
              </a:buClr>
              <a:buSzPts val="900"/>
              <a:buFont typeface="Calibri"/>
              <a:buNone/>
            </a:pPr>
            <a:r>
              <a:rPr lang="en-US" sz="900" i="0" u="none" strike="noStrike" cap="none">
                <a:solidFill>
                  <a:srgbClr val="888888"/>
                </a:solidFill>
                <a:latin typeface="Newsreader"/>
                <a:ea typeface="Newsreader"/>
                <a:cs typeface="Newsreader"/>
                <a:sym typeface="Newsreader"/>
              </a:rPr>
              <a:t>Securing three unassailable seats reduces defensive spend and frees organisational capacity for selective GRC expansion in the 2030 electoral cycle.</a:t>
            </a:r>
            <a:endParaRPr sz="900" i="0" u="none" strike="noStrike" cap="none">
              <a:solidFill>
                <a:srgbClr val="888888"/>
              </a:solidFill>
              <a:latin typeface="Newsreader"/>
              <a:ea typeface="Newsreader"/>
              <a:cs typeface="Newsreader"/>
              <a:sym typeface="Newsreader"/>
            </a:endParaRPr>
          </a:p>
        </p:txBody>
      </p:sp>
      <p:sp>
        <p:nvSpPr>
          <p:cNvPr id="169" name="Google Shape;169;p10"/>
          <p:cNvSpPr/>
          <p:nvPr/>
        </p:nvSpPr>
        <p:spPr>
          <a:xfrm>
            <a:off x="365760" y="4846320"/>
            <a:ext cx="8412480" cy="2011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55577"/>
              </a:buClr>
              <a:buSzPts val="800"/>
              <a:buFont typeface="Calibri"/>
              <a:buNone/>
            </a:pPr>
            <a:r>
              <a:rPr lang="en-US" sz="800" b="0" i="0" u="none" strike="noStrike" cap="none">
                <a:solidFill>
                  <a:srgbClr val="555577"/>
                </a:solidFill>
                <a:latin typeface="Calibri"/>
                <a:ea typeface="Calibri"/>
                <a:cs typeface="Calibri"/>
                <a:sym typeface="Calibri"/>
              </a:rPr>
              <a:t>Source: dataset — WP 2025 vote share in contested strongholds</a:t>
            </a:r>
            <a:endParaRPr sz="800" b="0" i="0" u="none" strike="noStrike" cap="none">
              <a:solidFill>
                <a:schemeClr val="dk1"/>
              </a:solidFill>
              <a:latin typeface="Calibri"/>
              <a:ea typeface="Calibri"/>
              <a:cs typeface="Calibri"/>
              <a:sym typeface="Calibri"/>
            </a:endParaRPr>
          </a:p>
        </p:txBody>
      </p:sp>
      <p:pic>
        <p:nvPicPr>
          <p:cNvPr id="170" name="Google Shape;170;p10"/>
          <p:cNvPicPr preferRelativeResize="0"/>
          <p:nvPr/>
        </p:nvPicPr>
        <p:blipFill>
          <a:blip r:embed="rId3">
            <a:alphaModFix/>
          </a:blip>
          <a:stretch>
            <a:fillRect/>
          </a:stretch>
        </p:blipFill>
        <p:spPr>
          <a:xfrm>
            <a:off x="152400" y="965445"/>
            <a:ext cx="5364480" cy="36383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12"/>
          <p:cNvSpPr/>
          <p:nvPr/>
        </p:nvSpPr>
        <p:spPr>
          <a:xfrm>
            <a:off x="0" y="0"/>
            <a:ext cx="9144000" cy="54864"/>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2"/>
          <p:cNvSpPr/>
          <p:nvPr/>
        </p:nvSpPr>
        <p:spPr>
          <a:xfrm>
            <a:off x="457200" y="190320"/>
            <a:ext cx="8229600" cy="594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600"/>
              <a:buFont typeface="Calibri"/>
              <a:buNone/>
            </a:pPr>
            <a:r>
              <a:rPr lang="en-US" sz="2000" b="1">
                <a:solidFill>
                  <a:schemeClr val="dk1"/>
                </a:solidFill>
                <a:latin typeface="Newsreader"/>
                <a:ea typeface="Newsreader"/>
                <a:cs typeface="Newsreader"/>
                <a:sym typeface="Newsreader"/>
              </a:rPr>
              <a:t>Stop splitting the opposition vote</a:t>
            </a:r>
            <a:endParaRPr sz="2000" i="0" u="none" strike="noStrike" cap="none">
              <a:solidFill>
                <a:schemeClr val="dk1"/>
              </a:solidFill>
              <a:latin typeface="Newsreader"/>
              <a:ea typeface="Newsreader"/>
              <a:cs typeface="Newsreader"/>
              <a:sym typeface="Newsreader"/>
            </a:endParaRPr>
          </a:p>
        </p:txBody>
      </p:sp>
      <p:sp>
        <p:nvSpPr>
          <p:cNvPr id="178" name="Google Shape;178;p12"/>
          <p:cNvSpPr/>
          <p:nvPr/>
        </p:nvSpPr>
        <p:spPr>
          <a:xfrm>
            <a:off x="5925368" y="1118727"/>
            <a:ext cx="2880300" cy="1024200"/>
          </a:xfrm>
          <a:prstGeom prst="rect">
            <a:avLst/>
          </a:prstGeom>
          <a:solidFill>
            <a:schemeClr val="lt2"/>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9" name="Google Shape;179;p12"/>
          <p:cNvSpPr/>
          <p:nvPr/>
        </p:nvSpPr>
        <p:spPr>
          <a:xfrm>
            <a:off x="5897943" y="1118727"/>
            <a:ext cx="63900" cy="10242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2"/>
          <p:cNvSpPr/>
          <p:nvPr/>
        </p:nvSpPr>
        <p:spPr>
          <a:xfrm>
            <a:off x="6048775" y="1170774"/>
            <a:ext cx="2606100" cy="9201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Clr>
                <a:srgbClr val="AAAACC"/>
              </a:buClr>
              <a:buSzPts val="900"/>
              <a:buFont typeface="Calibri"/>
              <a:buNone/>
            </a:pPr>
            <a:r>
              <a:rPr lang="en-US" sz="1100">
                <a:solidFill>
                  <a:schemeClr val="dk1"/>
                </a:solidFill>
                <a:latin typeface="Newsreader SemiBold"/>
                <a:ea typeface="Newsreader SemiBold"/>
                <a:cs typeface="Newsreader SemiBold"/>
                <a:sym typeface="Newsreader SemiBold"/>
              </a:rPr>
              <a:t>4 points short</a:t>
            </a:r>
            <a:endParaRPr sz="1100">
              <a:solidFill>
                <a:schemeClr val="dk1"/>
              </a:solidFill>
              <a:latin typeface="Newsreader SemiBold"/>
              <a:ea typeface="Newsreader SemiBold"/>
              <a:cs typeface="Newsreader SemiBold"/>
              <a:sym typeface="Newsreader SemiBold"/>
            </a:endParaRPr>
          </a:p>
          <a:p>
            <a:pPr marL="0" lvl="0" indent="0" algn="l" rtl="0">
              <a:spcBef>
                <a:spcPts val="0"/>
              </a:spcBef>
              <a:spcAft>
                <a:spcPts val="0"/>
              </a:spcAft>
              <a:buClr>
                <a:srgbClr val="AAAACC"/>
              </a:buClr>
              <a:buSzPts val="900"/>
              <a:buFont typeface="Calibri"/>
              <a:buNone/>
            </a:pPr>
            <a:endParaRPr sz="900">
              <a:solidFill>
                <a:schemeClr val="dk1"/>
              </a:solidFill>
              <a:latin typeface="Newsreader"/>
              <a:ea typeface="Newsreader"/>
              <a:cs typeface="Newsreader"/>
              <a:sym typeface="Newsreader"/>
            </a:endParaRPr>
          </a:p>
          <a:p>
            <a:pPr marL="0" lvl="0" indent="0" algn="l" rtl="0">
              <a:spcBef>
                <a:spcPts val="0"/>
              </a:spcBef>
              <a:spcAft>
                <a:spcPts val="0"/>
              </a:spcAft>
              <a:buClr>
                <a:srgbClr val="AAAACC"/>
              </a:buClr>
              <a:buSzPts val="900"/>
              <a:buFont typeface="Calibri"/>
              <a:buNone/>
            </a:pPr>
            <a:r>
              <a:rPr lang="en-US" sz="900">
                <a:solidFill>
                  <a:srgbClr val="888888"/>
                </a:solidFill>
                <a:latin typeface="Newsreader"/>
                <a:ea typeface="Newsreader"/>
                <a:cs typeface="Newsreader"/>
                <a:sym typeface="Newsreader"/>
              </a:rPr>
              <a:t>WP + other opposition parties combined for 47.8% of the vote. PAP won with 52.2%. A unified opposition candidate would have made this a genuine contest.</a:t>
            </a:r>
            <a:endParaRPr sz="900">
              <a:solidFill>
                <a:srgbClr val="888888"/>
              </a:solidFill>
              <a:latin typeface="Newsreader"/>
              <a:ea typeface="Newsreader"/>
              <a:cs typeface="Newsreader"/>
              <a:sym typeface="Newsreader"/>
            </a:endParaRPr>
          </a:p>
          <a:p>
            <a:pPr marL="0" marR="0" lvl="0" indent="0" algn="l" rtl="0">
              <a:spcBef>
                <a:spcPts val="0"/>
              </a:spcBef>
              <a:spcAft>
                <a:spcPts val="0"/>
              </a:spcAft>
              <a:buClr>
                <a:srgbClr val="AAAACC"/>
              </a:buClr>
              <a:buSzPts val="900"/>
              <a:buFont typeface="Calibri"/>
              <a:buNone/>
            </a:pPr>
            <a:endParaRPr sz="900">
              <a:solidFill>
                <a:srgbClr val="888888"/>
              </a:solidFill>
              <a:latin typeface="Newsreader"/>
              <a:ea typeface="Newsreader"/>
              <a:cs typeface="Newsreader"/>
              <a:sym typeface="Newsreader"/>
            </a:endParaRPr>
          </a:p>
        </p:txBody>
      </p:sp>
      <p:sp>
        <p:nvSpPr>
          <p:cNvPr id="181" name="Google Shape;181;p12"/>
          <p:cNvSpPr/>
          <p:nvPr/>
        </p:nvSpPr>
        <p:spPr>
          <a:xfrm>
            <a:off x="5897875" y="2377450"/>
            <a:ext cx="2907900" cy="1024200"/>
          </a:xfrm>
          <a:prstGeom prst="rect">
            <a:avLst/>
          </a:prstGeom>
          <a:solidFill>
            <a:schemeClr val="lt2"/>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2"/>
          <p:cNvSpPr/>
          <p:nvPr/>
        </p:nvSpPr>
        <p:spPr>
          <a:xfrm>
            <a:off x="5897880" y="2377440"/>
            <a:ext cx="64008" cy="1024128"/>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2"/>
          <p:cNvSpPr/>
          <p:nvPr/>
        </p:nvSpPr>
        <p:spPr>
          <a:xfrm>
            <a:off x="6062475" y="2477017"/>
            <a:ext cx="2606100" cy="85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AAACC"/>
              </a:buClr>
              <a:buSzPts val="900"/>
              <a:buFont typeface="Calibri"/>
              <a:buNone/>
            </a:pPr>
            <a:r>
              <a:rPr lang="en-US" sz="1100">
                <a:solidFill>
                  <a:schemeClr val="dk1"/>
                </a:solidFill>
                <a:latin typeface="Newsreader SemiBold"/>
                <a:ea typeface="Newsreader SemiBold"/>
                <a:cs typeface="Newsreader SemiBold"/>
                <a:sym typeface="Newsreader SemiBold"/>
              </a:rPr>
              <a:t>The split cost WP </a:t>
            </a:r>
            <a:endParaRPr sz="1100">
              <a:solidFill>
                <a:schemeClr val="dk1"/>
              </a:solidFill>
              <a:latin typeface="Newsreader SemiBold"/>
              <a:ea typeface="Newsreader SemiBold"/>
              <a:cs typeface="Newsreader SemiBold"/>
              <a:sym typeface="Newsreader SemiBold"/>
            </a:endParaRPr>
          </a:p>
          <a:p>
            <a:pPr marL="0" marR="0" lvl="0" indent="0" algn="l" rtl="0">
              <a:spcBef>
                <a:spcPts val="0"/>
              </a:spcBef>
              <a:spcAft>
                <a:spcPts val="0"/>
              </a:spcAft>
              <a:buClr>
                <a:srgbClr val="AAAACC"/>
              </a:buClr>
              <a:buSzPts val="900"/>
              <a:buFont typeface="Calibri"/>
              <a:buNone/>
            </a:pPr>
            <a:endParaRPr sz="1100">
              <a:solidFill>
                <a:schemeClr val="dk1"/>
              </a:solidFill>
              <a:latin typeface="Newsreader"/>
              <a:ea typeface="Newsreader"/>
              <a:cs typeface="Newsreader"/>
              <a:sym typeface="Newsreader"/>
            </a:endParaRPr>
          </a:p>
          <a:p>
            <a:pPr marL="0" marR="0" lvl="0" indent="0" algn="l" rtl="0">
              <a:spcBef>
                <a:spcPts val="0"/>
              </a:spcBef>
              <a:spcAft>
                <a:spcPts val="0"/>
              </a:spcAft>
              <a:buClr>
                <a:srgbClr val="AAAACC"/>
              </a:buClr>
              <a:buSzPts val="900"/>
              <a:buFont typeface="Calibri"/>
              <a:buNone/>
            </a:pPr>
            <a:r>
              <a:rPr lang="en-US" sz="900">
                <a:solidFill>
                  <a:srgbClr val="888888"/>
                </a:solidFill>
                <a:latin typeface="Newsreader"/>
                <a:ea typeface="Newsreader"/>
                <a:cs typeface="Newsreader"/>
                <a:sym typeface="Newsreader"/>
              </a:rPr>
              <a:t>PPP and NSP took 0.61% between them. Minor party candidates in target seats hand PAP victories they shouldn’t win</a:t>
            </a:r>
            <a:endParaRPr sz="900">
              <a:solidFill>
                <a:srgbClr val="888888"/>
              </a:solidFill>
              <a:latin typeface="Newsreader"/>
              <a:ea typeface="Newsreader"/>
              <a:cs typeface="Newsreader"/>
              <a:sym typeface="Newsreader"/>
            </a:endParaRPr>
          </a:p>
        </p:txBody>
      </p:sp>
      <p:sp>
        <p:nvSpPr>
          <p:cNvPr id="184" name="Google Shape;184;p12"/>
          <p:cNvSpPr/>
          <p:nvPr/>
        </p:nvSpPr>
        <p:spPr>
          <a:xfrm>
            <a:off x="5925343" y="3611878"/>
            <a:ext cx="2880300" cy="1024200"/>
          </a:xfrm>
          <a:prstGeom prst="rect">
            <a:avLst/>
          </a:prstGeom>
          <a:solidFill>
            <a:schemeClr val="lt2"/>
          </a:solidFill>
          <a:ln w="12700" cap="flat" cmpd="sng">
            <a:solidFill>
              <a:srgbClr val="3333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2"/>
          <p:cNvSpPr/>
          <p:nvPr/>
        </p:nvSpPr>
        <p:spPr>
          <a:xfrm>
            <a:off x="5897880" y="3611878"/>
            <a:ext cx="63900" cy="10242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2"/>
          <p:cNvSpPr/>
          <p:nvPr/>
        </p:nvSpPr>
        <p:spPr>
          <a:xfrm>
            <a:off x="6034975" y="3698300"/>
            <a:ext cx="2743200" cy="85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AAACC"/>
              </a:buClr>
              <a:buSzPts val="900"/>
              <a:buFont typeface="Calibri"/>
              <a:buNone/>
            </a:pPr>
            <a:r>
              <a:rPr lang="en-US" sz="1100">
                <a:solidFill>
                  <a:schemeClr val="dk1"/>
                </a:solidFill>
                <a:latin typeface="Newsreader SemiBold"/>
                <a:ea typeface="Newsreader SemiBold"/>
                <a:cs typeface="Newsreader SemiBold"/>
                <a:sym typeface="Newsreader SemiBold"/>
              </a:rPr>
              <a:t>The ask</a:t>
            </a:r>
            <a:endParaRPr sz="1100">
              <a:solidFill>
                <a:schemeClr val="dk1"/>
              </a:solidFill>
              <a:latin typeface="Newsreader SemiBold"/>
              <a:ea typeface="Newsreader SemiBold"/>
              <a:cs typeface="Newsreader SemiBold"/>
              <a:sym typeface="Newsreader SemiBold"/>
            </a:endParaRPr>
          </a:p>
          <a:p>
            <a:pPr marL="0" marR="0" lvl="0" indent="0" algn="l" rtl="0">
              <a:spcBef>
                <a:spcPts val="0"/>
              </a:spcBef>
              <a:spcAft>
                <a:spcPts val="0"/>
              </a:spcAft>
              <a:buClr>
                <a:srgbClr val="AAAACC"/>
              </a:buClr>
              <a:buSzPts val="900"/>
              <a:buFont typeface="Calibri"/>
              <a:buNone/>
            </a:pPr>
            <a:endParaRPr sz="1100">
              <a:solidFill>
                <a:schemeClr val="dk1"/>
              </a:solidFill>
              <a:latin typeface="Newsreader"/>
              <a:ea typeface="Newsreader"/>
              <a:cs typeface="Newsreader"/>
              <a:sym typeface="Newsreader"/>
            </a:endParaRPr>
          </a:p>
          <a:p>
            <a:pPr marL="0" marR="0" lvl="0" indent="0" algn="l" rtl="0">
              <a:spcBef>
                <a:spcPts val="0"/>
              </a:spcBef>
              <a:spcAft>
                <a:spcPts val="0"/>
              </a:spcAft>
              <a:buClr>
                <a:srgbClr val="AAAACC"/>
              </a:buClr>
              <a:buSzPts val="900"/>
              <a:buFont typeface="Calibri"/>
              <a:buNone/>
            </a:pPr>
            <a:r>
              <a:rPr lang="en-US" sz="900">
                <a:solidFill>
                  <a:srgbClr val="888888"/>
                </a:solidFill>
                <a:latin typeface="Newsreader"/>
                <a:ea typeface="Newsreader"/>
                <a:cs typeface="Newsreader"/>
                <a:sym typeface="Newsreader"/>
              </a:rPr>
              <a:t>Non-competition agreements in target GRCs. One opposition candidate per seat. The votes are there — they just need to land in one place.</a:t>
            </a:r>
            <a:endParaRPr sz="700" u="none" strike="noStrike" cap="none">
              <a:solidFill>
                <a:srgbClr val="888888"/>
              </a:solidFill>
              <a:latin typeface="Newsreader"/>
              <a:ea typeface="Newsreader"/>
              <a:cs typeface="Newsreader"/>
              <a:sym typeface="Newsreader"/>
            </a:endParaRPr>
          </a:p>
        </p:txBody>
      </p:sp>
      <p:pic>
        <p:nvPicPr>
          <p:cNvPr id="187" name="Google Shape;187;p12"/>
          <p:cNvPicPr preferRelativeResize="0"/>
          <p:nvPr/>
        </p:nvPicPr>
        <p:blipFill>
          <a:blip r:embed="rId3">
            <a:alphaModFix/>
          </a:blip>
          <a:stretch>
            <a:fillRect/>
          </a:stretch>
        </p:blipFill>
        <p:spPr>
          <a:xfrm>
            <a:off x="294725" y="1114675"/>
            <a:ext cx="5410202" cy="35213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13"/>
          <p:cNvSpPr/>
          <p:nvPr/>
        </p:nvSpPr>
        <p:spPr>
          <a:xfrm>
            <a:off x="0" y="0"/>
            <a:ext cx="182880" cy="5143500"/>
          </a:xfrm>
          <a:prstGeom prst="rect">
            <a:avLst/>
          </a:prstGeom>
          <a:solidFill>
            <a:srgbClr val="E8151B"/>
          </a:solidFill>
          <a:ln w="12700" cap="flat" cmpd="sng">
            <a:solidFill>
              <a:srgbClr val="E815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3"/>
          <p:cNvSpPr/>
          <p:nvPr/>
        </p:nvSpPr>
        <p:spPr>
          <a:xfrm>
            <a:off x="8961120" y="0"/>
            <a:ext cx="182880" cy="5143500"/>
          </a:xfrm>
          <a:prstGeom prst="rect">
            <a:avLst/>
          </a:prstGeom>
          <a:solidFill>
            <a:srgbClr val="2D79E0"/>
          </a:solidFill>
          <a:ln w="12700" cap="flat" cmpd="sng">
            <a:solidFill>
              <a:srgbClr val="2D7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3"/>
          <p:cNvSpPr/>
          <p:nvPr/>
        </p:nvSpPr>
        <p:spPr>
          <a:xfrm>
            <a:off x="548640" y="731520"/>
            <a:ext cx="8046720"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600"/>
              <a:buFont typeface="Calibri"/>
              <a:buNone/>
            </a:pPr>
            <a:r>
              <a:rPr lang="en-US" sz="3600" b="1" i="0" u="none" strike="noStrike" cap="none">
                <a:solidFill>
                  <a:schemeClr val="dk1"/>
                </a:solidFill>
                <a:latin typeface="Newsreader"/>
                <a:ea typeface="Newsreader"/>
                <a:cs typeface="Newsreader"/>
                <a:sym typeface="Newsreader"/>
              </a:rPr>
              <a:t>Singapore's voters are more divided</a:t>
            </a:r>
            <a:endParaRPr sz="3600" b="1" i="0" u="none" strike="noStrike" cap="none">
              <a:solidFill>
                <a:schemeClr val="dk1"/>
              </a:solidFill>
              <a:latin typeface="Newsreader"/>
              <a:ea typeface="Newsreader"/>
              <a:cs typeface="Newsreader"/>
              <a:sym typeface="Newsreader"/>
            </a:endParaRPr>
          </a:p>
          <a:p>
            <a:pPr marL="0" marR="0" lvl="0" indent="0" algn="ctr" rtl="0">
              <a:spcBef>
                <a:spcPts val="0"/>
              </a:spcBef>
              <a:spcAft>
                <a:spcPts val="0"/>
              </a:spcAft>
              <a:buClr>
                <a:srgbClr val="FFFFFF"/>
              </a:buClr>
              <a:buSzPts val="3600"/>
              <a:buFont typeface="Calibri"/>
              <a:buNone/>
            </a:pPr>
            <a:r>
              <a:rPr lang="en-US" sz="3600" b="1" i="0" u="none" strike="noStrike" cap="none">
                <a:solidFill>
                  <a:schemeClr val="dk1"/>
                </a:solidFill>
                <a:latin typeface="Newsreader"/>
                <a:ea typeface="Newsreader"/>
                <a:cs typeface="Newsreader"/>
                <a:sym typeface="Newsreader"/>
              </a:rPr>
              <a:t>than its parliament suggests</a:t>
            </a:r>
            <a:r>
              <a:rPr lang="en-US" sz="3600" b="1" i="0" u="none" strike="noStrike" cap="none">
                <a:solidFill>
                  <a:srgbClr val="FFFFFF"/>
                </a:solidFill>
                <a:latin typeface="Calibri"/>
                <a:ea typeface="Calibri"/>
                <a:cs typeface="Calibri"/>
                <a:sym typeface="Calibri"/>
              </a:rPr>
              <a:t>.</a:t>
            </a:r>
            <a:endParaRPr sz="3600" b="0" i="0" u="none" strike="noStrike" cap="none">
              <a:solidFill>
                <a:schemeClr val="dk1"/>
              </a:solidFill>
              <a:latin typeface="Calibri"/>
              <a:ea typeface="Calibri"/>
              <a:cs typeface="Calibri"/>
              <a:sym typeface="Calibri"/>
            </a:endParaRPr>
          </a:p>
        </p:txBody>
      </p:sp>
      <p:sp>
        <p:nvSpPr>
          <p:cNvPr id="196" name="Google Shape;196;p13"/>
          <p:cNvSpPr/>
          <p:nvPr/>
        </p:nvSpPr>
        <p:spPr>
          <a:xfrm>
            <a:off x="914400" y="2423160"/>
            <a:ext cx="7315200" cy="777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AAAACC"/>
              </a:buClr>
              <a:buSzPts val="1500"/>
              <a:buFont typeface="Calibri"/>
              <a:buNone/>
            </a:pPr>
            <a:r>
              <a:rPr lang="en-US" sz="1500" i="1" u="none" strike="noStrike" cap="none">
                <a:solidFill>
                  <a:srgbClr val="AAAACC"/>
                </a:solidFill>
                <a:latin typeface="Newsreader"/>
                <a:ea typeface="Newsreader"/>
                <a:cs typeface="Newsreader"/>
                <a:sym typeface="Newsreader"/>
              </a:rPr>
              <a:t>The votes are moving. The seats are not.</a:t>
            </a:r>
            <a:endParaRPr sz="1500" i="0" u="none" strike="noStrike" cap="none">
              <a:solidFill>
                <a:schemeClr val="dk1"/>
              </a:solidFill>
              <a:latin typeface="Newsreader"/>
              <a:ea typeface="Newsreader"/>
              <a:cs typeface="Newsreader"/>
              <a:sym typeface="Newsreader"/>
            </a:endParaRPr>
          </a:p>
          <a:p>
            <a:pPr marL="0" marR="0" lvl="0" indent="0" algn="ctr" rtl="0">
              <a:spcBef>
                <a:spcPts val="0"/>
              </a:spcBef>
              <a:spcAft>
                <a:spcPts val="0"/>
              </a:spcAft>
              <a:buClr>
                <a:srgbClr val="AAAACC"/>
              </a:buClr>
              <a:buSzPts val="1500"/>
              <a:buFont typeface="Calibri"/>
              <a:buNone/>
            </a:pPr>
            <a:r>
              <a:rPr lang="en-US" sz="1500" i="1" u="none" strike="noStrike" cap="none">
                <a:solidFill>
                  <a:srgbClr val="AAAACC"/>
                </a:solidFill>
                <a:latin typeface="Newsreader"/>
                <a:ea typeface="Newsreader"/>
                <a:cs typeface="Newsreader"/>
                <a:sym typeface="Newsreader"/>
              </a:rPr>
              <a:t>That gap is Singapore's democratic paradox in 2025.</a:t>
            </a:r>
            <a:endParaRPr sz="1500" i="0" u="none" strike="noStrike" cap="none">
              <a:solidFill>
                <a:schemeClr val="dk1"/>
              </a:solidFill>
              <a:latin typeface="Newsreader"/>
              <a:ea typeface="Newsreader"/>
              <a:cs typeface="Newsreader"/>
              <a:sym typeface="Newsreader"/>
            </a:endParaRPr>
          </a:p>
        </p:txBody>
      </p:sp>
      <p:cxnSp>
        <p:nvCxnSpPr>
          <p:cNvPr id="197" name="Google Shape;197;p13"/>
          <p:cNvCxnSpPr/>
          <p:nvPr/>
        </p:nvCxnSpPr>
        <p:spPr>
          <a:xfrm>
            <a:off x="2286000" y="3337560"/>
            <a:ext cx="4572000" cy="0"/>
          </a:xfrm>
          <a:prstGeom prst="straightConnector1">
            <a:avLst/>
          </a:prstGeom>
          <a:noFill/>
          <a:ln w="12700" cap="flat" cmpd="sng">
            <a:solidFill>
              <a:srgbClr val="C9A84C"/>
            </a:solidFill>
            <a:prstDash val="solid"/>
            <a:round/>
            <a:headEnd type="none" w="sm" len="sm"/>
            <a:tailEnd type="none" w="sm" len="sm"/>
          </a:ln>
        </p:spPr>
      </p:cxnSp>
      <p:sp>
        <p:nvSpPr>
          <p:cNvPr id="198" name="Google Shape;198;p13"/>
          <p:cNvSpPr/>
          <p:nvPr/>
        </p:nvSpPr>
        <p:spPr>
          <a:xfrm>
            <a:off x="457200" y="3520440"/>
            <a:ext cx="8229600" cy="685800"/>
          </a:xfrm>
          <a:prstGeom prst="rect">
            <a:avLst/>
          </a:prstGeom>
          <a:solidFill>
            <a:srgbClr val="22223A"/>
          </a:solidFill>
          <a:ln w="12700" cap="flat" cmpd="sng">
            <a:solidFill>
              <a:srgbClr val="33335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3"/>
          <p:cNvSpPr/>
          <p:nvPr/>
        </p:nvSpPr>
        <p:spPr>
          <a:xfrm>
            <a:off x="457200" y="3538728"/>
            <a:ext cx="8229600" cy="6400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151B"/>
              </a:buClr>
              <a:buSzPts val="1400"/>
              <a:buFont typeface="Calibri"/>
              <a:buNone/>
            </a:pPr>
            <a:r>
              <a:rPr lang="en-US" sz="1400" i="0" u="none" strike="noStrike" cap="none">
                <a:solidFill>
                  <a:srgbClr val="E8151B"/>
                </a:solidFill>
                <a:latin typeface="Newsreader Medium"/>
                <a:ea typeface="Newsreader Medium"/>
                <a:cs typeface="Newsreader Medium"/>
                <a:sym typeface="Newsreader Medium"/>
              </a:rPr>
              <a:t>65.8% votes → 90.6% seats  </a:t>
            </a:r>
            <a:r>
              <a:rPr lang="en-US" sz="1400" i="0" u="none" strike="noStrike" cap="none">
                <a:solidFill>
                  <a:srgbClr val="666688"/>
                </a:solidFill>
                <a:latin typeface="Newsreader Medium"/>
                <a:ea typeface="Newsreader Medium"/>
                <a:cs typeface="Newsreader Medium"/>
                <a:sym typeface="Newsreader Medium"/>
              </a:rPr>
              <a:t>PAP   |   WP   </a:t>
            </a:r>
            <a:r>
              <a:rPr lang="en-US" sz="1400" i="0" u="none" strike="noStrike" cap="none">
                <a:solidFill>
                  <a:srgbClr val="2D79E0"/>
                </a:solidFill>
                <a:latin typeface="Newsreader Medium"/>
                <a:ea typeface="Newsreader Medium"/>
                <a:cs typeface="Newsreader Medium"/>
                <a:sym typeface="Newsreader Medium"/>
              </a:rPr>
              <a:t>14.9% votes → 9.3% seats</a:t>
            </a:r>
            <a:endParaRPr sz="1400" i="0" u="none" strike="noStrike" cap="none">
              <a:solidFill>
                <a:schemeClr val="dk1"/>
              </a:solidFill>
              <a:latin typeface="Newsreader Medium"/>
              <a:ea typeface="Newsreader Medium"/>
              <a:cs typeface="Newsreader Medium"/>
              <a:sym typeface="Newsreader Medium"/>
            </a:endParaRPr>
          </a:p>
        </p:txBody>
      </p:sp>
      <p:sp>
        <p:nvSpPr>
          <p:cNvPr id="200" name="Google Shape;200;p13"/>
          <p:cNvSpPr/>
          <p:nvPr/>
        </p:nvSpPr>
        <p:spPr>
          <a:xfrm>
            <a:off x="457200" y="4343400"/>
            <a:ext cx="822960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8888"/>
              </a:buClr>
              <a:buSzPts val="1100"/>
              <a:buFont typeface="Calibri"/>
              <a:buNone/>
            </a:pPr>
            <a:r>
              <a:rPr lang="en-US" sz="1100" i="0" u="none" strike="noStrike" cap="none">
                <a:solidFill>
                  <a:srgbClr val="888888"/>
                </a:solidFill>
                <a:latin typeface="Newsreader"/>
                <a:ea typeface="Newsreader"/>
                <a:cs typeface="Newsreader"/>
                <a:sym typeface="Newsreader"/>
              </a:rPr>
              <a:t>Lucas Sam  ·  February 2026</a:t>
            </a:r>
            <a:endParaRPr sz="1100" i="0" u="none" strike="noStrike" cap="none">
              <a:solidFill>
                <a:schemeClr val="dk1"/>
              </a:solidFill>
              <a:latin typeface="Newsreader"/>
              <a:ea typeface="Newsreader"/>
              <a:cs typeface="Newsreader"/>
              <a:sym typeface="Newsreader"/>
            </a:endParaRPr>
          </a:p>
        </p:txBody>
      </p:sp>
      <p:sp>
        <p:nvSpPr>
          <p:cNvPr id="201" name="Google Shape;201;p13"/>
          <p:cNvSpPr/>
          <p:nvPr/>
        </p:nvSpPr>
        <p:spPr>
          <a:xfrm>
            <a:off x="457200" y="4754880"/>
            <a:ext cx="822960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44466"/>
              </a:buClr>
              <a:buSzPts val="800"/>
              <a:buFont typeface="Calibri"/>
              <a:buNone/>
            </a:pPr>
            <a:r>
              <a:rPr lang="en-US" sz="800" b="0" i="0" u="none" strike="noStrike" cap="none">
                <a:solidFill>
                  <a:srgbClr val="444466"/>
                </a:solidFill>
                <a:latin typeface="Calibri"/>
                <a:ea typeface="Calibri"/>
                <a:cs typeface="Calibri"/>
                <a:sym typeface="Calibri"/>
              </a:rPr>
              <a:t>Analysis based on 32 constituencies with available historical data. 2025 boundary changes created new constituencies not reflected in this dataset.</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2869</Words>
  <Application>Microsoft Office PowerPoint</Application>
  <PresentationFormat>On-screen Show (16:9)</PresentationFormat>
  <Paragraphs>159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Lato</vt:lpstr>
      <vt:lpstr>Newsreader Medium</vt:lpstr>
      <vt:lpstr>Newsreader</vt:lpstr>
      <vt:lpstr>Arial</vt:lpstr>
      <vt:lpstr>Calibri</vt:lpstr>
      <vt:lpstr>Newsreader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Lucas Sam</dc:creator>
  <cp:lastModifiedBy>Lucas Sam</cp:lastModifiedBy>
  <cp:revision>1</cp:revision>
  <dcterms:created xsi:type="dcterms:W3CDTF">2026-02-20T11:42:04Z</dcterms:created>
  <dcterms:modified xsi:type="dcterms:W3CDTF">2026-02-27T02:10:43Z</dcterms:modified>
</cp:coreProperties>
</file>